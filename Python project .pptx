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6" r:id="rId5"/>
    <p:sldId id="275" r:id="rId6"/>
    <p:sldId id="277" r:id="rId7"/>
    <p:sldId id="278" r:id="rId8"/>
    <p:sldId id="263" r:id="rId9"/>
    <p:sldId id="265" r:id="rId10"/>
    <p:sldId id="267" r:id="rId11"/>
    <p:sldId id="264" r:id="rId12"/>
    <p:sldId id="274" r:id="rId13"/>
    <p:sldId id="279" r:id="rId14"/>
    <p:sldId id="280" r:id="rId15"/>
    <p:sldId id="281" r:id="rId16"/>
    <p:sldId id="284" r:id="rId17"/>
    <p:sldId id="283" r:id="rId18"/>
    <p:sldId id="286" r:id="rId19"/>
    <p:sldId id="285"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6"/>
  </p:normalViewPr>
  <p:slideViewPr>
    <p:cSldViewPr>
      <p:cViewPr varScale="1">
        <p:scale>
          <a:sx n="90" d="100"/>
          <a:sy n="90" d="100"/>
        </p:scale>
        <p:origin x="232" y="5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43729" y="647867"/>
            <a:ext cx="3070225" cy="796925"/>
          </a:xfrm>
          <a:prstGeom prst="rect">
            <a:avLst/>
          </a:prstGeom>
        </p:spPr>
        <p:txBody>
          <a:bodyPr wrap="square" lIns="0" tIns="0" rIns="0" bIns="0">
            <a:spAutoFit/>
          </a:bodyPr>
          <a:lstStyle>
            <a:lvl1pPr>
              <a:defRPr sz="2400" b="1" i="0">
                <a:solidFill>
                  <a:srgbClr val="EC7C3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0D0D0D"/>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C7C3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rgbClr val="0D0D0D"/>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C7C3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EC7C3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04185" y="627062"/>
            <a:ext cx="6004814" cy="727075"/>
          </a:xfrm>
          <a:prstGeom prst="rect">
            <a:avLst/>
          </a:prstGeom>
        </p:spPr>
        <p:txBody>
          <a:bodyPr wrap="square" lIns="0" tIns="0" rIns="0" bIns="0">
            <a:spAutoFit/>
          </a:bodyPr>
          <a:lstStyle>
            <a:lvl1pPr>
              <a:defRPr sz="2400" b="1" i="0">
                <a:solidFill>
                  <a:srgbClr val="EC7C30"/>
                </a:solidFill>
                <a:latin typeface="Arial"/>
                <a:cs typeface="Arial"/>
              </a:defRPr>
            </a:lvl1pPr>
          </a:lstStyle>
          <a:p>
            <a:endParaRPr/>
          </a:p>
        </p:txBody>
      </p:sp>
      <p:sp>
        <p:nvSpPr>
          <p:cNvPr id="3" name="Holder 3"/>
          <p:cNvSpPr>
            <a:spLocks noGrp="1"/>
          </p:cNvSpPr>
          <p:nvPr>
            <p:ph type="body" idx="1"/>
          </p:nvPr>
        </p:nvSpPr>
        <p:spPr>
          <a:xfrm>
            <a:off x="961389" y="1598358"/>
            <a:ext cx="10285730" cy="4565650"/>
          </a:xfrm>
          <a:prstGeom prst="rect">
            <a:avLst/>
          </a:prstGeom>
        </p:spPr>
        <p:txBody>
          <a:bodyPr wrap="square" lIns="0" tIns="0" rIns="0" bIns="0">
            <a:spAutoFit/>
          </a:bodyPr>
          <a:lstStyle>
            <a:lvl1pPr>
              <a:defRPr sz="1800" b="0" i="0">
                <a:solidFill>
                  <a:srgbClr val="0D0D0D"/>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jpg"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3.jpeg" /></Relationships>
</file>

<file path=ppt/slides/_rels/slide18.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4.jpeg" /></Relationships>
</file>

<file path=ppt/slides/_rels/slide19.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2765" y="3288347"/>
            <a:ext cx="3335654" cy="869469"/>
          </a:xfrm>
          <a:prstGeom prst="rect">
            <a:avLst/>
          </a:prstGeom>
        </p:spPr>
        <p:txBody>
          <a:bodyPr vert="horz" wrap="square" lIns="0" tIns="12700" rIns="0" bIns="0" rtlCol="0">
            <a:spAutoFit/>
          </a:bodyPr>
          <a:lstStyle/>
          <a:p>
            <a:pPr marR="262255" algn="ctr">
              <a:lnSpc>
                <a:spcPct val="100000"/>
              </a:lnSpc>
              <a:spcBef>
                <a:spcPts val="100"/>
              </a:spcBef>
            </a:pPr>
            <a:r>
              <a:rPr sz="1800" b="1" dirty="0">
                <a:solidFill>
                  <a:srgbClr val="0000FF"/>
                </a:solidFill>
                <a:latin typeface="Arial"/>
                <a:cs typeface="Arial"/>
              </a:rPr>
              <a:t>PRESENTED</a:t>
            </a:r>
            <a:r>
              <a:rPr sz="1800" b="1" spc="15" dirty="0">
                <a:solidFill>
                  <a:srgbClr val="0000FF"/>
                </a:solidFill>
                <a:latin typeface="Arial"/>
                <a:cs typeface="Arial"/>
              </a:rPr>
              <a:t> </a:t>
            </a:r>
            <a:r>
              <a:rPr sz="1800" b="1" spc="-25" dirty="0">
                <a:solidFill>
                  <a:srgbClr val="0000FF"/>
                </a:solidFill>
                <a:latin typeface="Arial"/>
                <a:cs typeface="Arial"/>
              </a:rPr>
              <a:t>BY</a:t>
            </a:r>
            <a:endParaRPr lang="en-US" b="1" spc="-25" dirty="0">
              <a:solidFill>
                <a:srgbClr val="0000FF"/>
              </a:solidFill>
              <a:latin typeface="Arial"/>
              <a:cs typeface="Arial"/>
            </a:endParaRPr>
          </a:p>
          <a:p>
            <a:pPr marR="262255" algn="ctr">
              <a:lnSpc>
                <a:spcPct val="100000"/>
              </a:lnSpc>
              <a:spcBef>
                <a:spcPts val="100"/>
              </a:spcBef>
            </a:pPr>
            <a:r>
              <a:rPr lang="en-US" sz="1800" b="1" spc="-25" dirty="0">
                <a:solidFill>
                  <a:srgbClr val="0000FF"/>
                </a:solidFill>
                <a:latin typeface="Arial"/>
                <a:cs typeface="Arial"/>
              </a:rPr>
              <a:t>Keerthiga T</a:t>
            </a:r>
          </a:p>
          <a:p>
            <a:pPr marR="262255" algn="ctr">
              <a:lnSpc>
                <a:spcPct val="100000"/>
              </a:lnSpc>
              <a:spcBef>
                <a:spcPts val="100"/>
              </a:spcBef>
            </a:pPr>
            <a:r>
              <a:rPr lang="en-US" b="1" spc="-25" dirty="0">
                <a:solidFill>
                  <a:srgbClr val="0000FF"/>
                </a:solidFill>
                <a:latin typeface="Arial"/>
                <a:cs typeface="Arial"/>
              </a:rPr>
              <a:t>2303811710622052</a:t>
            </a:r>
            <a:endParaRPr lang="en-US" sz="1800" b="1" spc="-25" dirty="0">
              <a:solidFill>
                <a:srgbClr val="0000FF"/>
              </a:solidFill>
              <a:latin typeface="Arial"/>
              <a:cs typeface="Arial"/>
            </a:endParaRPr>
          </a:p>
        </p:txBody>
      </p:sp>
      <p:pic>
        <p:nvPicPr>
          <p:cNvPr id="4" name="object 4"/>
          <p:cNvPicPr/>
          <p:nvPr/>
        </p:nvPicPr>
        <p:blipFill>
          <a:blip r:embed="rId2" cstate="print"/>
          <a:stretch>
            <a:fillRect/>
          </a:stretch>
        </p:blipFill>
        <p:spPr>
          <a:xfrm>
            <a:off x="541701" y="236892"/>
            <a:ext cx="1054347" cy="1040690"/>
          </a:xfrm>
          <a:prstGeom prst="rect">
            <a:avLst/>
          </a:prstGeom>
        </p:spPr>
      </p:pic>
      <p:sp>
        <p:nvSpPr>
          <p:cNvPr id="5" name="object 5"/>
          <p:cNvSpPr txBox="1">
            <a:spLocks noGrp="1"/>
          </p:cNvSpPr>
          <p:nvPr>
            <p:ph type="title"/>
          </p:nvPr>
        </p:nvSpPr>
        <p:spPr>
          <a:prstGeom prst="rect">
            <a:avLst/>
          </a:prstGeom>
        </p:spPr>
        <p:txBody>
          <a:bodyPr vert="horz" wrap="square" lIns="0" tIns="160655" rIns="0" bIns="0" rtlCol="0">
            <a:spAutoFit/>
          </a:bodyPr>
          <a:lstStyle/>
          <a:p>
            <a:pPr marL="1548765" marR="5080" indent="-1268095">
              <a:lnSpc>
                <a:spcPct val="100800"/>
              </a:lnSpc>
              <a:spcBef>
                <a:spcPts val="85"/>
              </a:spcBef>
            </a:pPr>
            <a:r>
              <a:rPr sz="1800" dirty="0">
                <a:solidFill>
                  <a:srgbClr val="FF0066"/>
                </a:solidFill>
              </a:rPr>
              <a:t>K.RAMAKRISHNAN</a:t>
            </a:r>
            <a:r>
              <a:rPr sz="1800" spc="5" dirty="0">
                <a:solidFill>
                  <a:srgbClr val="FF0066"/>
                </a:solidFill>
              </a:rPr>
              <a:t> </a:t>
            </a:r>
            <a:r>
              <a:rPr sz="1800" dirty="0">
                <a:solidFill>
                  <a:srgbClr val="FF0066"/>
                </a:solidFill>
              </a:rPr>
              <a:t>COLLEGE</a:t>
            </a:r>
            <a:r>
              <a:rPr sz="1800" spc="-30" dirty="0">
                <a:solidFill>
                  <a:srgbClr val="FF0066"/>
                </a:solidFill>
              </a:rPr>
              <a:t> </a:t>
            </a:r>
            <a:r>
              <a:rPr sz="1800" dirty="0">
                <a:solidFill>
                  <a:srgbClr val="FF0066"/>
                </a:solidFill>
              </a:rPr>
              <a:t>OF</a:t>
            </a:r>
            <a:r>
              <a:rPr sz="1800" spc="-5" dirty="0">
                <a:solidFill>
                  <a:srgbClr val="FF0066"/>
                </a:solidFill>
              </a:rPr>
              <a:t> </a:t>
            </a:r>
            <a:r>
              <a:rPr sz="1800" spc="-10" dirty="0">
                <a:solidFill>
                  <a:srgbClr val="FF0066"/>
                </a:solidFill>
              </a:rPr>
              <a:t>TECHNOLOGY </a:t>
            </a:r>
            <a:r>
              <a:rPr sz="1800" dirty="0">
                <a:solidFill>
                  <a:srgbClr val="FF0066"/>
                </a:solidFill>
              </a:rPr>
              <a:t>(AUTONOMOUS),</a:t>
            </a:r>
            <a:r>
              <a:rPr sz="1800" spc="-55" dirty="0">
                <a:solidFill>
                  <a:srgbClr val="FF0066"/>
                </a:solidFill>
              </a:rPr>
              <a:t> </a:t>
            </a:r>
            <a:r>
              <a:rPr sz="1800" spc="-10" dirty="0">
                <a:solidFill>
                  <a:srgbClr val="FF0066"/>
                </a:solidFill>
              </a:rPr>
              <a:t>TRICHY</a:t>
            </a:r>
            <a:endParaRPr sz="1800"/>
          </a:p>
        </p:txBody>
      </p:sp>
      <p:sp>
        <p:nvSpPr>
          <p:cNvPr id="6" name="object 6"/>
          <p:cNvSpPr txBox="1"/>
          <p:nvPr/>
        </p:nvSpPr>
        <p:spPr>
          <a:xfrm>
            <a:off x="3511296" y="1873948"/>
            <a:ext cx="4879340"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FF0000"/>
                </a:solidFill>
                <a:latin typeface="Arial"/>
                <a:cs typeface="Arial"/>
              </a:rPr>
              <a:t>STOCK PORTFOLIO SYSTEM</a:t>
            </a:r>
            <a:endParaRPr sz="2400" b="1" dirty="0">
              <a:solidFill>
                <a:srgbClr val="FF0000"/>
              </a:solidFill>
              <a:latin typeface="Arial"/>
              <a:cs typeface="Arial"/>
            </a:endParaRPr>
          </a:p>
        </p:txBody>
      </p:sp>
      <p:pic>
        <p:nvPicPr>
          <p:cNvPr id="7" name="object 7"/>
          <p:cNvPicPr/>
          <p:nvPr/>
        </p:nvPicPr>
        <p:blipFill>
          <a:blip r:embed="rId3" cstate="print"/>
          <a:stretch>
            <a:fillRect/>
          </a:stretch>
        </p:blipFill>
        <p:spPr>
          <a:xfrm>
            <a:off x="10591800" y="352425"/>
            <a:ext cx="1152525" cy="110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081405">
              <a:lnSpc>
                <a:spcPct val="100000"/>
              </a:lnSpc>
              <a:spcBef>
                <a:spcPts val="105"/>
              </a:spcBef>
            </a:pPr>
            <a:r>
              <a:rPr spc="-45" dirty="0">
                <a:solidFill>
                  <a:srgbClr val="FF0066"/>
                </a:solidFill>
              </a:rPr>
              <a:t>PRESENTATION</a:t>
            </a:r>
            <a:r>
              <a:rPr spc="75" dirty="0">
                <a:solidFill>
                  <a:srgbClr val="FF0066"/>
                </a:solidFill>
              </a:rPr>
              <a:t> </a:t>
            </a:r>
            <a:r>
              <a:rPr spc="-35" dirty="0">
                <a:solidFill>
                  <a:srgbClr val="FF0066"/>
                </a:solidFill>
              </a:rPr>
              <a:t>OVERVIEW</a:t>
            </a:r>
          </a:p>
        </p:txBody>
      </p:sp>
      <p:sp>
        <p:nvSpPr>
          <p:cNvPr id="3" name="object 3"/>
          <p:cNvSpPr txBox="1"/>
          <p:nvPr/>
        </p:nvSpPr>
        <p:spPr>
          <a:xfrm>
            <a:off x="974407" y="1523047"/>
            <a:ext cx="7255193" cy="4554452"/>
          </a:xfrm>
          <a:prstGeom prst="rect">
            <a:avLst/>
          </a:prstGeom>
        </p:spPr>
        <p:txBody>
          <a:bodyPr vert="horz" wrap="square" lIns="0" tIns="100965" rIns="0" bIns="0" rtlCol="0">
            <a:spAutoFit/>
          </a:bodyPr>
          <a:lstStyle/>
          <a:p>
            <a:pPr marL="12700">
              <a:lnSpc>
                <a:spcPct val="100000"/>
              </a:lnSpc>
              <a:spcBef>
                <a:spcPts val="695"/>
              </a:spcBef>
              <a:tabLst>
                <a:tab pos="355600" algn="l"/>
              </a:tabLst>
            </a:pPr>
            <a:endParaRPr sz="1800" dirty="0">
              <a:latin typeface="Arial"/>
              <a:cs typeface="Arial"/>
            </a:endParaRPr>
          </a:p>
          <a:p>
            <a:pPr marL="12700">
              <a:lnSpc>
                <a:spcPct val="100000"/>
              </a:lnSpc>
              <a:spcBef>
                <a:spcPts val="770"/>
              </a:spcBef>
              <a:tabLst>
                <a:tab pos="355600" algn="l"/>
              </a:tabLst>
            </a:pPr>
            <a:endParaRPr lang="en-US" sz="1800" b="1" spc="-10" dirty="0">
              <a:latin typeface="Arial"/>
              <a:cs typeface="Arial"/>
            </a:endParaRPr>
          </a:p>
          <a:p>
            <a:pPr marL="355600" indent="-342900">
              <a:lnSpc>
                <a:spcPct val="100000"/>
              </a:lnSpc>
              <a:spcBef>
                <a:spcPts val="770"/>
              </a:spcBef>
              <a:buFont typeface="Wingdings"/>
              <a:buChar char=""/>
              <a:tabLst>
                <a:tab pos="355600" algn="l"/>
              </a:tabLst>
            </a:pPr>
            <a:r>
              <a:rPr lang="en-US" sz="1800" b="1" spc="-10" dirty="0">
                <a:latin typeface="Arial"/>
                <a:cs typeface="Arial"/>
              </a:rPr>
              <a:t>PROJECT INTRODUCTION </a:t>
            </a:r>
          </a:p>
          <a:p>
            <a:pPr marL="355600" indent="-342900">
              <a:lnSpc>
                <a:spcPct val="100000"/>
              </a:lnSpc>
              <a:spcBef>
                <a:spcPts val="770"/>
              </a:spcBef>
              <a:buFont typeface="Wingdings"/>
              <a:buChar char=""/>
              <a:tabLst>
                <a:tab pos="355600" algn="l"/>
              </a:tabLst>
            </a:pPr>
            <a:r>
              <a:rPr lang="en-US" sz="1800" b="1" spc="-10" dirty="0">
                <a:latin typeface="Arial"/>
                <a:cs typeface="Arial"/>
              </a:rPr>
              <a:t>PROJECT OBJECTIVE </a:t>
            </a:r>
          </a:p>
          <a:p>
            <a:pPr marL="355600" indent="-342900">
              <a:lnSpc>
                <a:spcPct val="100000"/>
              </a:lnSpc>
              <a:spcBef>
                <a:spcPts val="770"/>
              </a:spcBef>
              <a:buFont typeface="Wingdings"/>
              <a:buChar char=""/>
              <a:tabLst>
                <a:tab pos="355600" algn="l"/>
              </a:tabLst>
            </a:pPr>
            <a:r>
              <a:rPr lang="en-US" sz="1800" b="1" spc="-10" dirty="0">
                <a:latin typeface="Arial"/>
                <a:cs typeface="Arial"/>
              </a:rPr>
              <a:t>PROBLEM STATEMENT </a:t>
            </a:r>
          </a:p>
          <a:p>
            <a:pPr marL="355600" indent="-342900">
              <a:lnSpc>
                <a:spcPct val="100000"/>
              </a:lnSpc>
              <a:spcBef>
                <a:spcPts val="770"/>
              </a:spcBef>
              <a:buFont typeface="Wingdings"/>
              <a:buChar char=""/>
              <a:tabLst>
                <a:tab pos="355600" algn="l"/>
              </a:tabLst>
            </a:pPr>
            <a:r>
              <a:rPr lang="en-US" sz="1800" b="1" spc="-10" dirty="0">
                <a:latin typeface="Arial"/>
                <a:cs typeface="Arial"/>
              </a:rPr>
              <a:t>LIBRARIES USED</a:t>
            </a:r>
          </a:p>
          <a:p>
            <a:pPr marL="355600" indent="-342900">
              <a:lnSpc>
                <a:spcPct val="100000"/>
              </a:lnSpc>
              <a:spcBef>
                <a:spcPts val="770"/>
              </a:spcBef>
              <a:buFont typeface="Wingdings"/>
              <a:buChar char=""/>
              <a:tabLst>
                <a:tab pos="355600" algn="l"/>
              </a:tabLst>
            </a:pPr>
            <a:r>
              <a:rPr lang="en-US" sz="1800" b="1" spc="-10" dirty="0">
                <a:latin typeface="Arial"/>
                <a:cs typeface="Arial"/>
              </a:rPr>
              <a:t>EXISTING SYSTEM</a:t>
            </a:r>
          </a:p>
          <a:p>
            <a:pPr marL="355600" indent="-342900">
              <a:lnSpc>
                <a:spcPct val="100000"/>
              </a:lnSpc>
              <a:spcBef>
                <a:spcPts val="770"/>
              </a:spcBef>
              <a:buFont typeface="Wingdings"/>
              <a:buChar char=""/>
              <a:tabLst>
                <a:tab pos="355600" algn="l"/>
              </a:tabLst>
            </a:pPr>
            <a:r>
              <a:rPr lang="en-US" b="1" spc="-10" dirty="0">
                <a:latin typeface="Arial"/>
                <a:cs typeface="Arial"/>
              </a:rPr>
              <a:t>PROPOSED SYSTEM</a:t>
            </a:r>
          </a:p>
          <a:p>
            <a:pPr marL="355600" indent="-342900">
              <a:lnSpc>
                <a:spcPct val="100000"/>
              </a:lnSpc>
              <a:spcBef>
                <a:spcPts val="770"/>
              </a:spcBef>
              <a:buFont typeface="Wingdings"/>
              <a:buChar char=""/>
              <a:tabLst>
                <a:tab pos="355600" algn="l"/>
              </a:tabLst>
            </a:pPr>
            <a:r>
              <a:rPr lang="en-US" sz="1800" b="1" spc="-10" dirty="0">
                <a:latin typeface="Arial"/>
                <a:cs typeface="Arial"/>
              </a:rPr>
              <a:t>BLOCK DIAGRAM</a:t>
            </a:r>
          </a:p>
          <a:p>
            <a:pPr marL="355600" indent="-342900">
              <a:lnSpc>
                <a:spcPct val="100000"/>
              </a:lnSpc>
              <a:spcBef>
                <a:spcPts val="770"/>
              </a:spcBef>
              <a:buFont typeface="Wingdings"/>
              <a:buChar char=""/>
              <a:tabLst>
                <a:tab pos="355600" algn="l"/>
              </a:tabLst>
            </a:pPr>
            <a:r>
              <a:rPr lang="en-US" b="1" spc="-10" dirty="0">
                <a:latin typeface="Arial"/>
                <a:cs typeface="Arial"/>
              </a:rPr>
              <a:t>MODULE DESCRIPTION</a:t>
            </a:r>
          </a:p>
          <a:p>
            <a:pPr marL="355600" indent="-342900">
              <a:lnSpc>
                <a:spcPct val="100000"/>
              </a:lnSpc>
              <a:spcBef>
                <a:spcPts val="770"/>
              </a:spcBef>
              <a:buFont typeface="Wingdings"/>
              <a:buChar char=""/>
              <a:tabLst>
                <a:tab pos="355600" algn="l"/>
              </a:tabLst>
            </a:pPr>
            <a:r>
              <a:rPr lang="en-US" sz="1800" b="1" spc="-10" dirty="0">
                <a:latin typeface="Arial"/>
                <a:cs typeface="Arial"/>
              </a:rPr>
              <a:t>CONCLUSION AND FUTURE ENHANCEMENT</a:t>
            </a:r>
          </a:p>
          <a:p>
            <a:pPr marL="12700">
              <a:spcBef>
                <a:spcPts val="770"/>
              </a:spcBef>
              <a:tabLst>
                <a:tab pos="355600" algn="l"/>
              </a:tabLst>
            </a:pPr>
            <a:endParaRPr lang="en-US" sz="1800" dirty="0">
              <a:latin typeface="Arial"/>
              <a:cs typeface="Arial"/>
            </a:endParaRPr>
          </a:p>
        </p:txBody>
      </p:sp>
      <p:pic>
        <p:nvPicPr>
          <p:cNvPr id="4" name="object 4"/>
          <p:cNvPicPr/>
          <p:nvPr/>
        </p:nvPicPr>
        <p:blipFill>
          <a:blip r:embed="rId2" cstate="print"/>
          <a:stretch>
            <a:fillRect/>
          </a:stretch>
        </p:blipFill>
        <p:spPr>
          <a:xfrm>
            <a:off x="522651" y="360717"/>
            <a:ext cx="1054347" cy="1040690"/>
          </a:xfrm>
          <a:prstGeom prst="rect">
            <a:avLst/>
          </a:prstGeom>
        </p:spPr>
      </p:pic>
      <p:pic>
        <p:nvPicPr>
          <p:cNvPr id="5" name="object 5"/>
          <p:cNvPicPr/>
          <p:nvPr/>
        </p:nvPicPr>
        <p:blipFill>
          <a:blip r:embed="rId3" cstate="print"/>
          <a:stretch>
            <a:fillRect/>
          </a:stretch>
        </p:blipFill>
        <p:spPr>
          <a:xfrm>
            <a:off x="10525125" y="371475"/>
            <a:ext cx="1152525" cy="1104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51" y="284517"/>
            <a:ext cx="1054347" cy="1040690"/>
          </a:xfrm>
          <a:prstGeom prst="rect">
            <a:avLst/>
          </a:prstGeom>
        </p:spPr>
      </p:pic>
      <p:pic>
        <p:nvPicPr>
          <p:cNvPr id="3" name="object 3"/>
          <p:cNvPicPr/>
          <p:nvPr/>
        </p:nvPicPr>
        <p:blipFill>
          <a:blip r:embed="rId3" cstate="print"/>
          <a:stretch>
            <a:fillRect/>
          </a:stretch>
        </p:blipFill>
        <p:spPr>
          <a:xfrm>
            <a:off x="10553700" y="381000"/>
            <a:ext cx="1152525" cy="1104900"/>
          </a:xfrm>
          <a:prstGeom prst="rect">
            <a:avLst/>
          </a:prstGeom>
        </p:spPr>
      </p:pic>
      <p:sp>
        <p:nvSpPr>
          <p:cNvPr id="4" name="object 4"/>
          <p:cNvSpPr txBox="1"/>
          <p:nvPr/>
        </p:nvSpPr>
        <p:spPr>
          <a:xfrm>
            <a:off x="732472" y="1571180"/>
            <a:ext cx="10307320" cy="5170967"/>
          </a:xfrm>
          <a:prstGeom prst="rect">
            <a:avLst/>
          </a:prstGeom>
        </p:spPr>
        <p:txBody>
          <a:bodyPr vert="horz" wrap="square" lIns="0" tIns="19050" rIns="0" bIns="0" rtlCol="0">
            <a:spAutoFit/>
          </a:bodyPr>
          <a:lstStyle/>
          <a:p>
            <a:pPr marL="12065" marR="5080" algn="just">
              <a:lnSpc>
                <a:spcPct val="150700"/>
              </a:lnSpc>
              <a:spcBef>
                <a:spcPts val="150"/>
              </a:spcBef>
              <a:buClr>
                <a:srgbClr val="0D0D0D"/>
              </a:buClr>
              <a:tabLst>
                <a:tab pos="298450" algn="l"/>
              </a:tabLst>
            </a:pPr>
            <a:r>
              <a:rPr lang="en-US" sz="2800" b="1" dirty="0">
                <a:solidFill>
                  <a:schemeClr val="accent2">
                    <a:lumMod val="75000"/>
                  </a:schemeClr>
                </a:solidFill>
                <a:latin typeface="Times New Roman" panose="02020603050405020304" pitchFamily="18" charset="0"/>
                <a:cs typeface="Times New Roman" panose="02020603050405020304" pitchFamily="18" charset="0"/>
              </a:rPr>
              <a:t>Introduction:</a:t>
            </a:r>
          </a:p>
          <a:p>
            <a:pPr marL="12065" marR="5080" algn="just">
              <a:lnSpc>
                <a:spcPct val="150700"/>
              </a:lnSpc>
              <a:spcBef>
                <a:spcPts val="150"/>
              </a:spcBef>
              <a:buClr>
                <a:srgbClr val="0D0D0D"/>
              </a:buClr>
              <a:tabLst>
                <a:tab pos="298450" algn="l"/>
              </a:tabLst>
            </a:pPr>
            <a:r>
              <a:rPr lang="en-US" sz="2800" b="1" dirty="0">
                <a:solidFill>
                  <a:schemeClr val="accent2">
                    <a:lumMod val="75000"/>
                  </a:schemeClr>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The Stock Portfolio System is designed to assist investors in tracking and managing their investments efficiently. This system offers comprehensive insights into stock performance, portfolio diversification, and financial analysis, enabling users to make informed decisions. By integrating real-time data and advanced analytical tools, the Stock Portfolio System aims to enhance the investment experience, providing a robust platform for both novice and experienced investors</a:t>
            </a:r>
            <a:r>
              <a:rPr lang="en-IN" sz="2800" dirty="0">
                <a:latin typeface="Arial MT"/>
                <a:cs typeface="Arial MT"/>
              </a:rPr>
              <a:t>.</a:t>
            </a:r>
            <a:endParaRPr sz="2800" dirty="0">
              <a:latin typeface="Arial MT"/>
              <a:cs typeface="Arial MT"/>
            </a:endParaRPr>
          </a:p>
        </p:txBody>
      </p:sp>
      <p:sp>
        <p:nvSpPr>
          <p:cNvPr id="5" name="object 5"/>
          <p:cNvSpPr txBox="1">
            <a:spLocks noGrp="1"/>
          </p:cNvSpPr>
          <p:nvPr>
            <p:ph type="title"/>
          </p:nvPr>
        </p:nvSpPr>
        <p:spPr>
          <a:xfrm>
            <a:off x="3004185" y="627062"/>
            <a:ext cx="6004814" cy="382797"/>
          </a:xfrm>
          <a:prstGeom prst="rect">
            <a:avLst/>
          </a:prstGeom>
        </p:spPr>
        <p:txBody>
          <a:bodyPr vert="horz" wrap="square" lIns="0" tIns="13335" rIns="0" bIns="0" rtlCol="0">
            <a:spAutoFit/>
          </a:bodyPr>
          <a:lstStyle/>
          <a:p>
            <a:pPr marL="1109980">
              <a:lnSpc>
                <a:spcPct val="100000"/>
              </a:lnSpc>
              <a:spcBef>
                <a:spcPts val="105"/>
              </a:spcBef>
            </a:pPr>
            <a:r>
              <a:rPr spc="-10" dirty="0">
                <a:solidFill>
                  <a:srgbClr val="FF0066"/>
                </a:solidFill>
              </a:rPr>
              <a:t>PRO</a:t>
            </a:r>
            <a:r>
              <a:rPr lang="en-IN" spc="-10" dirty="0">
                <a:solidFill>
                  <a:srgbClr val="FF0066"/>
                </a:solidFill>
              </a:rPr>
              <a:t>JECT INTRODUCTION</a:t>
            </a:r>
            <a:endParaRPr spc="-35" dirty="0">
              <a:solidFill>
                <a:srgbClr val="FF00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51" y="284517"/>
            <a:ext cx="1054347" cy="1040690"/>
          </a:xfrm>
          <a:prstGeom prst="rect">
            <a:avLst/>
          </a:prstGeom>
        </p:spPr>
      </p:pic>
      <p:pic>
        <p:nvPicPr>
          <p:cNvPr id="3" name="object 3"/>
          <p:cNvPicPr/>
          <p:nvPr/>
        </p:nvPicPr>
        <p:blipFill>
          <a:blip r:embed="rId3" cstate="print"/>
          <a:stretch>
            <a:fillRect/>
          </a:stretch>
        </p:blipFill>
        <p:spPr>
          <a:xfrm>
            <a:off x="10553700" y="381000"/>
            <a:ext cx="1152525" cy="1104900"/>
          </a:xfrm>
          <a:prstGeom prst="rect">
            <a:avLst/>
          </a:prstGeom>
        </p:spPr>
      </p:pic>
      <p:sp>
        <p:nvSpPr>
          <p:cNvPr id="4" name="object 4"/>
          <p:cNvSpPr txBox="1"/>
          <p:nvPr/>
        </p:nvSpPr>
        <p:spPr>
          <a:xfrm>
            <a:off x="732472" y="1571180"/>
            <a:ext cx="10307320" cy="4432560"/>
          </a:xfrm>
          <a:prstGeom prst="rect">
            <a:avLst/>
          </a:prstGeom>
        </p:spPr>
        <p:txBody>
          <a:bodyPr vert="horz" wrap="square" lIns="0" tIns="19050" rIns="0" bIns="0" rtlCol="0">
            <a:spAutoFit/>
          </a:bodyPr>
          <a:lstStyle/>
          <a:p>
            <a:pPr indent="457200" algn="just">
              <a:lnSpc>
                <a:spcPct val="155000"/>
              </a:lnSpc>
            </a:pPr>
            <a:r>
              <a:rPr lang="en-US" sz="2000" b="1" dirty="0">
                <a:solidFill>
                  <a:schemeClr val="accent2"/>
                </a:solidFill>
                <a:effectLst/>
                <a:latin typeface="Times New Roman" panose="02020603050405020304" pitchFamily="18" charset="0"/>
                <a:ea typeface="Calibri" panose="020F0502020204030204" pitchFamily="34" charset="0"/>
                <a:cs typeface="Times New Roman" panose="02020603050405020304" pitchFamily="18" charset="0"/>
              </a:rPr>
              <a:t>Objective:</a:t>
            </a:r>
          </a:p>
          <a:p>
            <a:pPr indent="457200" algn="just">
              <a:lnSpc>
                <a:spcPct val="155000"/>
              </a:lnSpc>
            </a:pPr>
            <a:r>
              <a:rPr lang="en-US" sz="2000"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objective of the Stock Portfolio System project is to develop a comprehensive tool that facilitates the effective management of investment portfolios. This system aims to provide real-time tracking of stock performance and portfolio value, offer detailed financial analysis to help users understand market trends, and enhance portfolio diversification to minimize risks. Additionally, it aims to deliver insightful reports and visualizations that assist users in monitoring their investments and identifying opportunities for growth</a:t>
            </a:r>
            <a:r>
              <a:rPr lang="en-US"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object 5"/>
          <p:cNvSpPr txBox="1">
            <a:spLocks noGrp="1"/>
          </p:cNvSpPr>
          <p:nvPr>
            <p:ph type="title"/>
          </p:nvPr>
        </p:nvSpPr>
        <p:spPr>
          <a:xfrm>
            <a:off x="3004185" y="627062"/>
            <a:ext cx="6004814" cy="382797"/>
          </a:xfrm>
          <a:prstGeom prst="rect">
            <a:avLst/>
          </a:prstGeom>
        </p:spPr>
        <p:txBody>
          <a:bodyPr vert="horz" wrap="square" lIns="0" tIns="13335" rIns="0" bIns="0" rtlCol="0">
            <a:spAutoFit/>
          </a:bodyPr>
          <a:lstStyle/>
          <a:p>
            <a:pPr marL="1109980">
              <a:lnSpc>
                <a:spcPct val="100000"/>
              </a:lnSpc>
              <a:spcBef>
                <a:spcPts val="105"/>
              </a:spcBef>
            </a:pPr>
            <a:r>
              <a:rPr spc="-10" dirty="0">
                <a:solidFill>
                  <a:srgbClr val="FF0066"/>
                </a:solidFill>
              </a:rPr>
              <a:t>PRO</a:t>
            </a:r>
            <a:r>
              <a:rPr lang="en-IN" spc="-10" dirty="0">
                <a:solidFill>
                  <a:srgbClr val="FF0066"/>
                </a:solidFill>
              </a:rPr>
              <a:t>JECT OBJECTIVE</a:t>
            </a:r>
            <a:endParaRPr spc="-35" dirty="0">
              <a:solidFill>
                <a:srgbClr val="FF0066"/>
              </a:solidFill>
            </a:endParaRPr>
          </a:p>
        </p:txBody>
      </p:sp>
    </p:spTree>
    <p:extLst>
      <p:ext uri="{BB962C8B-B14F-4D97-AF65-F5344CB8AC3E}">
        <p14:creationId xmlns:p14="http://schemas.microsoft.com/office/powerpoint/2010/main" val="143007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51" y="284517"/>
            <a:ext cx="1054347" cy="1040690"/>
          </a:xfrm>
          <a:prstGeom prst="rect">
            <a:avLst/>
          </a:prstGeom>
        </p:spPr>
      </p:pic>
      <p:pic>
        <p:nvPicPr>
          <p:cNvPr id="3" name="object 3"/>
          <p:cNvPicPr/>
          <p:nvPr/>
        </p:nvPicPr>
        <p:blipFill>
          <a:blip r:embed="rId3" cstate="print"/>
          <a:stretch>
            <a:fillRect/>
          </a:stretch>
        </p:blipFill>
        <p:spPr>
          <a:xfrm>
            <a:off x="10553700" y="381000"/>
            <a:ext cx="1152525" cy="1104900"/>
          </a:xfrm>
          <a:prstGeom prst="rect">
            <a:avLst/>
          </a:prstGeom>
        </p:spPr>
      </p:pic>
      <p:sp>
        <p:nvSpPr>
          <p:cNvPr id="4" name="object 4"/>
          <p:cNvSpPr txBox="1"/>
          <p:nvPr/>
        </p:nvSpPr>
        <p:spPr>
          <a:xfrm>
            <a:off x="732472" y="1571180"/>
            <a:ext cx="10307320" cy="3234475"/>
          </a:xfrm>
          <a:prstGeom prst="rect">
            <a:avLst/>
          </a:prstGeom>
        </p:spPr>
        <p:txBody>
          <a:bodyPr vert="horz" wrap="square" lIns="0" tIns="19050" rIns="0" bIns="0" rtlCol="0">
            <a:spAutoFit/>
          </a:bodyPr>
          <a:lstStyle/>
          <a:p>
            <a:pPr indent="990600" algn="just">
              <a:lnSpc>
                <a:spcPct val="148000"/>
              </a:lnSpc>
            </a:pPr>
            <a:r>
              <a:rPr lang="en-US" sz="2400" dirty="0">
                <a:latin typeface="Times New Roman" panose="02020603050405020304" pitchFamily="18" charset="0"/>
                <a:ea typeface="Calibri" panose="020F0502020204030204" pitchFamily="34" charset="0"/>
                <a:cs typeface="Times New Roman" panose="02020603050405020304" pitchFamily="18" charset="0"/>
              </a:rPr>
              <a:t>1. Import and manage historical and real-time financial data for a wide range of stocks, including price, volume, dividends, and corporate actions.
2. Construct and customize diversified portfolios based on user-defined criteria such as risk tolerance, investment goals, and sector preferences.
3. Implement various quantitative techniques and algorithms to analyze stock performance, identify trends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object 5"/>
          <p:cNvSpPr txBox="1">
            <a:spLocks noGrp="1"/>
          </p:cNvSpPr>
          <p:nvPr>
            <p:ph type="title"/>
          </p:nvPr>
        </p:nvSpPr>
        <p:spPr>
          <a:xfrm>
            <a:off x="3004185" y="627062"/>
            <a:ext cx="6004814" cy="382797"/>
          </a:xfrm>
          <a:prstGeom prst="rect">
            <a:avLst/>
          </a:prstGeom>
        </p:spPr>
        <p:txBody>
          <a:bodyPr vert="horz" wrap="square" lIns="0" tIns="13335" rIns="0" bIns="0" rtlCol="0">
            <a:spAutoFit/>
          </a:bodyPr>
          <a:lstStyle/>
          <a:p>
            <a:pPr marL="1109980">
              <a:lnSpc>
                <a:spcPct val="100000"/>
              </a:lnSpc>
              <a:spcBef>
                <a:spcPts val="105"/>
              </a:spcBef>
            </a:pPr>
            <a:r>
              <a:rPr spc="-10" dirty="0">
                <a:solidFill>
                  <a:srgbClr val="FF0066"/>
                </a:solidFill>
              </a:rPr>
              <a:t>PRO</a:t>
            </a:r>
            <a:r>
              <a:rPr lang="en-IN" spc="-10" dirty="0">
                <a:solidFill>
                  <a:srgbClr val="FF0066"/>
                </a:solidFill>
              </a:rPr>
              <a:t>BLEM STATEMENT</a:t>
            </a:r>
            <a:endParaRPr spc="-35" dirty="0">
              <a:solidFill>
                <a:srgbClr val="FF0066"/>
              </a:solidFill>
            </a:endParaRPr>
          </a:p>
        </p:txBody>
      </p:sp>
    </p:spTree>
    <p:extLst>
      <p:ext uri="{BB962C8B-B14F-4D97-AF65-F5344CB8AC3E}">
        <p14:creationId xmlns:p14="http://schemas.microsoft.com/office/powerpoint/2010/main" val="2885751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51" y="284517"/>
            <a:ext cx="1054347" cy="1040690"/>
          </a:xfrm>
          <a:prstGeom prst="rect">
            <a:avLst/>
          </a:prstGeom>
        </p:spPr>
      </p:pic>
      <p:pic>
        <p:nvPicPr>
          <p:cNvPr id="3" name="object 3"/>
          <p:cNvPicPr/>
          <p:nvPr/>
        </p:nvPicPr>
        <p:blipFill>
          <a:blip r:embed="rId3" cstate="print"/>
          <a:stretch>
            <a:fillRect/>
          </a:stretch>
        </p:blipFill>
        <p:spPr>
          <a:xfrm>
            <a:off x="10553700" y="381000"/>
            <a:ext cx="1152525" cy="1104900"/>
          </a:xfrm>
          <a:prstGeom prst="rect">
            <a:avLst/>
          </a:prstGeom>
        </p:spPr>
      </p:pic>
      <p:sp>
        <p:nvSpPr>
          <p:cNvPr id="4" name="object 4"/>
          <p:cNvSpPr txBox="1"/>
          <p:nvPr/>
        </p:nvSpPr>
        <p:spPr>
          <a:xfrm>
            <a:off x="732472" y="1571180"/>
            <a:ext cx="11078528" cy="3457806"/>
          </a:xfrm>
          <a:prstGeom prst="rect">
            <a:avLst/>
          </a:prstGeom>
        </p:spPr>
        <p:txBody>
          <a:bodyPr vert="horz" wrap="square" lIns="0" tIns="19050" rIns="0" bIns="0" rtlCol="0">
            <a:spAutoFit/>
          </a:bodyPr>
          <a:lstStyle/>
          <a:p>
            <a:pPr marL="990600"/>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Stock Portfolio System project utilizes the following libraries:</a:t>
            </a:r>
          </a:p>
          <a:p>
            <a:pPr marL="990600"/>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990600"/>
            <a:r>
              <a:rPr lang="en-IN" sz="2000" dirty="0">
                <a:effectLst/>
                <a:latin typeface="Times New Roman" panose="02020603050405020304" pitchFamily="18" charset="0"/>
                <a:ea typeface="Calibri" panose="020F0502020204030204" pitchFamily="34" charset="0"/>
                <a:cs typeface="Times New Roman" panose="02020603050405020304" pitchFamily="18" charset="0"/>
              </a:rPr>
              <a:t>1.⁠ ⁠Pandas: Data manipulation and analysis.</a:t>
            </a:r>
          </a:p>
          <a:p>
            <a:pPr marL="990600"/>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990600"/>
            <a:r>
              <a:rPr lang="en-IN" sz="2000" dirty="0">
                <a:effectLst/>
                <a:latin typeface="Times New Roman" panose="02020603050405020304" pitchFamily="18" charset="0"/>
                <a:ea typeface="Calibri" panose="020F0502020204030204" pitchFamily="34" charset="0"/>
                <a:cs typeface="Times New Roman" panose="02020603050405020304" pitchFamily="18" charset="0"/>
              </a:rPr>
              <a:t>2.⁠ ⁠NumPy: Numerical operations and computations.</a:t>
            </a:r>
          </a:p>
          <a:p>
            <a:pPr marL="990600"/>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990600"/>
            <a:r>
              <a:rPr lang="en-IN" sz="2000" dirty="0">
                <a:effectLst/>
                <a:latin typeface="Times New Roman" panose="02020603050405020304" pitchFamily="18" charset="0"/>
                <a:ea typeface="Calibri" panose="020F0502020204030204" pitchFamily="34" charset="0"/>
                <a:cs typeface="Times New Roman" panose="02020603050405020304" pitchFamily="18" charset="0"/>
              </a:rPr>
              <a:t>3.⁠ ⁠Matplotlib &amp; Seaborn: Data visualization.</a:t>
            </a:r>
          </a:p>
          <a:p>
            <a:pPr marL="990600"/>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990600"/>
            <a:r>
              <a:rPr lang="en-IN" sz="2000" dirty="0">
                <a:effectLst/>
                <a:latin typeface="Times New Roman" panose="02020603050405020304" pitchFamily="18" charset="0"/>
                <a:ea typeface="Calibri" panose="020F0502020204030204" pitchFamily="34" charset="0"/>
                <a:cs typeface="Times New Roman" panose="02020603050405020304" pitchFamily="18" charset="0"/>
              </a:rPr>
              <a:t>4.⁠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yahoo finance API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Accessing historical market data.</a:t>
            </a:r>
          </a:p>
          <a:p>
            <a:pPr>
              <a:lnSpc>
                <a:spcPts val="1000"/>
              </a:lnSpc>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000"/>
              </a:lnSpc>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000"/>
              </a:lnSpc>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000"/>
              </a:lnSpc>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000"/>
              </a:lnSpc>
            </a:pP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object 5"/>
          <p:cNvSpPr txBox="1">
            <a:spLocks noGrp="1"/>
          </p:cNvSpPr>
          <p:nvPr>
            <p:ph type="title"/>
          </p:nvPr>
        </p:nvSpPr>
        <p:spPr>
          <a:xfrm>
            <a:off x="3004185" y="627062"/>
            <a:ext cx="6004814" cy="382797"/>
          </a:xfrm>
          <a:prstGeom prst="rect">
            <a:avLst/>
          </a:prstGeom>
        </p:spPr>
        <p:txBody>
          <a:bodyPr vert="horz" wrap="square" lIns="0" tIns="13335" rIns="0" bIns="0" rtlCol="0">
            <a:spAutoFit/>
          </a:bodyPr>
          <a:lstStyle/>
          <a:p>
            <a:pPr marL="1109980">
              <a:lnSpc>
                <a:spcPct val="100000"/>
              </a:lnSpc>
              <a:spcBef>
                <a:spcPts val="105"/>
              </a:spcBef>
            </a:pPr>
            <a:r>
              <a:rPr lang="en-IN" spc="-10" dirty="0">
                <a:solidFill>
                  <a:srgbClr val="FF0066"/>
                </a:solidFill>
              </a:rPr>
              <a:t>LIBRARIES USED</a:t>
            </a:r>
            <a:endParaRPr spc="-35" dirty="0">
              <a:solidFill>
                <a:srgbClr val="FF0066"/>
              </a:solidFill>
            </a:endParaRPr>
          </a:p>
        </p:txBody>
      </p:sp>
    </p:spTree>
    <p:extLst>
      <p:ext uri="{BB962C8B-B14F-4D97-AF65-F5344CB8AC3E}">
        <p14:creationId xmlns:p14="http://schemas.microsoft.com/office/powerpoint/2010/main" val="115177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51" y="284517"/>
            <a:ext cx="1054347" cy="1040690"/>
          </a:xfrm>
          <a:prstGeom prst="rect">
            <a:avLst/>
          </a:prstGeom>
        </p:spPr>
      </p:pic>
      <p:pic>
        <p:nvPicPr>
          <p:cNvPr id="3" name="object 3"/>
          <p:cNvPicPr/>
          <p:nvPr/>
        </p:nvPicPr>
        <p:blipFill>
          <a:blip r:embed="rId3" cstate="print"/>
          <a:stretch>
            <a:fillRect/>
          </a:stretch>
        </p:blipFill>
        <p:spPr>
          <a:xfrm>
            <a:off x="10553700" y="381000"/>
            <a:ext cx="1152525" cy="1104900"/>
          </a:xfrm>
          <a:prstGeom prst="rect">
            <a:avLst/>
          </a:prstGeom>
        </p:spPr>
      </p:pic>
      <p:sp>
        <p:nvSpPr>
          <p:cNvPr id="4" name="object 4"/>
          <p:cNvSpPr txBox="1"/>
          <p:nvPr/>
        </p:nvSpPr>
        <p:spPr>
          <a:xfrm>
            <a:off x="732472" y="1571180"/>
            <a:ext cx="10307320" cy="2234330"/>
          </a:xfrm>
          <a:prstGeom prst="rect">
            <a:avLst/>
          </a:prstGeom>
        </p:spPr>
        <p:txBody>
          <a:bodyPr vert="horz" wrap="square" lIns="0" tIns="19050" rIns="0" bIns="0" rtlCol="0">
            <a:spAutoFit/>
          </a:bodyPr>
          <a:lstStyle/>
          <a:p>
            <a:pPr indent="990600"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Before the Stock Portfolio System, individual investors often relied on spreadsheets or basic online tools to manage their portfolios. These solutions lacked real-time data updates, sophisticated analysis capabilities, and user-friendly interfaces, making it challenging for investors to make informed decisions.</a:t>
            </a:r>
          </a:p>
          <a:p>
            <a:pPr indent="990600" algn="just">
              <a:lnSpc>
                <a:spcPct val="148000"/>
              </a:lnSpc>
            </a:pPr>
            <a:endParaRPr lang="en-IN"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object 5"/>
          <p:cNvSpPr txBox="1">
            <a:spLocks noGrp="1"/>
          </p:cNvSpPr>
          <p:nvPr>
            <p:ph type="title"/>
          </p:nvPr>
        </p:nvSpPr>
        <p:spPr>
          <a:xfrm>
            <a:off x="3004185" y="627062"/>
            <a:ext cx="6004814" cy="382797"/>
          </a:xfrm>
          <a:prstGeom prst="rect">
            <a:avLst/>
          </a:prstGeom>
        </p:spPr>
        <p:txBody>
          <a:bodyPr vert="horz" wrap="square" lIns="0" tIns="13335" rIns="0" bIns="0" rtlCol="0">
            <a:spAutoFit/>
          </a:bodyPr>
          <a:lstStyle/>
          <a:p>
            <a:pPr marL="1109980">
              <a:lnSpc>
                <a:spcPct val="100000"/>
              </a:lnSpc>
              <a:spcBef>
                <a:spcPts val="105"/>
              </a:spcBef>
            </a:pPr>
            <a:r>
              <a:rPr lang="en-IN" spc="-10" dirty="0">
                <a:solidFill>
                  <a:srgbClr val="FF0066"/>
                </a:solidFill>
              </a:rPr>
              <a:t>EXISTING SYSTEM</a:t>
            </a:r>
            <a:endParaRPr spc="-35" dirty="0">
              <a:solidFill>
                <a:srgbClr val="FF0066"/>
              </a:solidFill>
            </a:endParaRPr>
          </a:p>
        </p:txBody>
      </p:sp>
    </p:spTree>
    <p:extLst>
      <p:ext uri="{BB962C8B-B14F-4D97-AF65-F5344CB8AC3E}">
        <p14:creationId xmlns:p14="http://schemas.microsoft.com/office/powerpoint/2010/main" val="10794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solidFill>
                  <a:srgbClr val="FF0066"/>
                </a:solidFill>
              </a:rPr>
              <a:t>DISADVANTAGES</a:t>
            </a:r>
            <a:r>
              <a:rPr spc="-15" dirty="0">
                <a:solidFill>
                  <a:srgbClr val="FF0066"/>
                </a:solidFill>
              </a:rPr>
              <a:t> </a:t>
            </a:r>
            <a:r>
              <a:rPr dirty="0">
                <a:solidFill>
                  <a:srgbClr val="FF0066"/>
                </a:solidFill>
              </a:rPr>
              <a:t>OF</a:t>
            </a:r>
            <a:r>
              <a:rPr spc="-135" dirty="0">
                <a:solidFill>
                  <a:srgbClr val="FF0066"/>
                </a:solidFill>
              </a:rPr>
              <a:t> </a:t>
            </a:r>
            <a:r>
              <a:rPr dirty="0">
                <a:solidFill>
                  <a:srgbClr val="FF0066"/>
                </a:solidFill>
              </a:rPr>
              <a:t>EXISTING</a:t>
            </a:r>
            <a:r>
              <a:rPr spc="20" dirty="0">
                <a:solidFill>
                  <a:srgbClr val="FF0066"/>
                </a:solidFill>
              </a:rPr>
              <a:t> </a:t>
            </a:r>
            <a:r>
              <a:rPr spc="-10" dirty="0">
                <a:solidFill>
                  <a:srgbClr val="FF0066"/>
                </a:solidFill>
              </a:rPr>
              <a:t>SYSTEM</a:t>
            </a:r>
          </a:p>
        </p:txBody>
      </p:sp>
      <p:pic>
        <p:nvPicPr>
          <p:cNvPr id="3" name="object 3"/>
          <p:cNvPicPr/>
          <p:nvPr/>
        </p:nvPicPr>
        <p:blipFill>
          <a:blip r:embed="rId2" cstate="print"/>
          <a:stretch>
            <a:fillRect/>
          </a:stretch>
        </p:blipFill>
        <p:spPr>
          <a:xfrm>
            <a:off x="570276" y="255942"/>
            <a:ext cx="1054347" cy="1040690"/>
          </a:xfrm>
          <a:prstGeom prst="rect">
            <a:avLst/>
          </a:prstGeom>
        </p:spPr>
      </p:pic>
      <p:pic>
        <p:nvPicPr>
          <p:cNvPr id="4" name="object 4"/>
          <p:cNvPicPr/>
          <p:nvPr/>
        </p:nvPicPr>
        <p:blipFill>
          <a:blip r:embed="rId3" cstate="print"/>
          <a:stretch>
            <a:fillRect/>
          </a:stretch>
        </p:blipFill>
        <p:spPr>
          <a:xfrm>
            <a:off x="10553700" y="381000"/>
            <a:ext cx="1152525" cy="1104900"/>
          </a:xfrm>
          <a:prstGeom prst="rect">
            <a:avLst/>
          </a:prstGeom>
        </p:spPr>
      </p:pic>
      <p:sp>
        <p:nvSpPr>
          <p:cNvPr id="5" name="object 5"/>
          <p:cNvSpPr txBox="1"/>
          <p:nvPr/>
        </p:nvSpPr>
        <p:spPr>
          <a:xfrm>
            <a:off x="654050" y="1627441"/>
            <a:ext cx="4714875" cy="3634328"/>
          </a:xfrm>
          <a:prstGeom prst="rect">
            <a:avLst/>
          </a:prstGeom>
        </p:spPr>
        <p:txBody>
          <a:bodyPr vert="horz" wrap="square" lIns="0" tIns="157480" rIns="0" bIns="0" rtlCol="0">
            <a:spAutoFit/>
          </a:bodyPr>
          <a:lstStyle/>
          <a:p>
            <a:pPr marL="12700">
              <a:lnSpc>
                <a:spcPct val="100000"/>
              </a:lnSpc>
              <a:spcBef>
                <a:spcPts val="1240"/>
              </a:spcBef>
              <a:tabLst>
                <a:tab pos="298450" algn="l"/>
              </a:tabLst>
            </a:pPr>
            <a:endParaRPr sz="1800" dirty="0">
              <a:latin typeface="Arial MT"/>
              <a:cs typeface="Arial MT"/>
            </a:endParaRPr>
          </a:p>
          <a:p>
            <a:pPr marL="298450" indent="-285750">
              <a:lnSpc>
                <a:spcPct val="100000"/>
              </a:lnSpc>
              <a:spcBef>
                <a:spcPts val="1070"/>
              </a:spcBef>
              <a:buFont typeface="Arial" panose="020B0604020202020204" pitchFamily="34" charset="0"/>
              <a:buChar char="•"/>
              <a:tabLst>
                <a:tab pos="298450" algn="l"/>
              </a:tabLst>
            </a:pPr>
            <a:r>
              <a:rPr lang="en-IN" sz="3600" b="1" dirty="0">
                <a:effectLst/>
                <a:latin typeface="Times New Roman" panose="02020603050405020304" pitchFamily="18" charset="0"/>
                <a:ea typeface="Times New Roman" panose="02020603050405020304" pitchFamily="18" charset="0"/>
                <a:cs typeface="Arial" panose="020B0604020202020204" pitchFamily="34" charset="0"/>
              </a:rPr>
              <a:t>Limited </a:t>
            </a:r>
            <a:r>
              <a:rPr lang="en-IN" sz="3600" b="1" dirty="0">
                <a:latin typeface="Times New Roman" panose="02020603050405020304" pitchFamily="18" charset="0"/>
                <a:ea typeface="Times New Roman" panose="02020603050405020304" pitchFamily="18" charset="0"/>
                <a:cs typeface="Arial" panose="020B0604020202020204" pitchFamily="34" charset="0"/>
              </a:rPr>
              <a:t>analysis</a:t>
            </a:r>
            <a:endParaRPr lang="en-IN" sz="3600" b="1" dirty="0">
              <a:effectLst/>
              <a:latin typeface="Times New Roman" panose="02020603050405020304" pitchFamily="18" charset="0"/>
              <a:ea typeface="Times New Roman" panose="02020603050405020304" pitchFamily="18" charset="0"/>
              <a:cs typeface="Arial" panose="020B0604020202020204" pitchFamily="34" charset="0"/>
            </a:endParaRPr>
          </a:p>
          <a:p>
            <a:pPr marL="298450" indent="-285750">
              <a:lnSpc>
                <a:spcPct val="100000"/>
              </a:lnSpc>
              <a:spcBef>
                <a:spcPts val="1070"/>
              </a:spcBef>
              <a:buFont typeface="Arial" panose="020B0604020202020204" pitchFamily="34" charset="0"/>
              <a:buChar char="•"/>
              <a:tabLst>
                <a:tab pos="298450" algn="l"/>
              </a:tabLst>
            </a:pPr>
            <a:r>
              <a:rPr lang="en-IN" sz="3600" b="1" dirty="0">
                <a:latin typeface="Times New Roman" panose="02020603050405020304" pitchFamily="18" charset="0"/>
                <a:ea typeface="Times New Roman" panose="02020603050405020304" pitchFamily="18" charset="0"/>
                <a:cs typeface="Arial" panose="020B0604020202020204" pitchFamily="34" charset="0"/>
              </a:rPr>
              <a:t>Poor user interface</a:t>
            </a:r>
          </a:p>
          <a:p>
            <a:pPr marL="298450" indent="-285750">
              <a:lnSpc>
                <a:spcPct val="100000"/>
              </a:lnSpc>
              <a:spcBef>
                <a:spcPts val="1070"/>
              </a:spcBef>
              <a:buFont typeface="Arial" panose="020B0604020202020204" pitchFamily="34" charset="0"/>
              <a:buChar char="•"/>
              <a:tabLst>
                <a:tab pos="298450" algn="l"/>
              </a:tabLst>
            </a:pPr>
            <a:r>
              <a:rPr lang="en-IN" sz="3600" b="1" dirty="0">
                <a:effectLst/>
                <a:latin typeface="Times New Roman" panose="02020603050405020304" pitchFamily="18" charset="0"/>
                <a:ea typeface="Times New Roman" panose="02020603050405020304" pitchFamily="18" charset="0"/>
                <a:cs typeface="Arial" panose="020B0604020202020204" pitchFamily="34" charset="0"/>
              </a:rPr>
              <a:t>Limited integration</a:t>
            </a:r>
          </a:p>
          <a:p>
            <a:pPr marL="298450" indent="-285750">
              <a:lnSpc>
                <a:spcPct val="100000"/>
              </a:lnSpc>
              <a:spcBef>
                <a:spcPts val="1070"/>
              </a:spcBef>
              <a:buFont typeface="Arial" panose="020B0604020202020204" pitchFamily="34" charset="0"/>
              <a:buChar char="•"/>
              <a:tabLst>
                <a:tab pos="298450" algn="l"/>
              </a:tabLst>
            </a:pPr>
            <a:r>
              <a:rPr lang="en-IN" sz="3600" b="1" dirty="0">
                <a:latin typeface="Times New Roman" panose="02020603050405020304" pitchFamily="18" charset="0"/>
                <a:ea typeface="Times New Roman" panose="02020603050405020304" pitchFamily="18" charset="0"/>
                <a:cs typeface="Arial" panose="020B0604020202020204" pitchFamily="34" charset="0"/>
              </a:rPr>
              <a:t>Lack of real time data</a:t>
            </a:r>
            <a:endParaRPr lang="en-IN" sz="3600" b="1" dirty="0">
              <a:effectLst/>
              <a:latin typeface="Times New Roman" panose="02020603050405020304" pitchFamily="18" charset="0"/>
              <a:ea typeface="Times New Roman" panose="02020603050405020304" pitchFamily="18" charset="0"/>
              <a:cs typeface="Arial" panose="020B0604020202020204" pitchFamily="34" charset="0"/>
            </a:endParaRPr>
          </a:p>
          <a:p>
            <a:pPr marL="298450" indent="-285750">
              <a:lnSpc>
                <a:spcPct val="100000"/>
              </a:lnSpc>
              <a:spcBef>
                <a:spcPts val="1070"/>
              </a:spcBef>
              <a:buFont typeface="Wingdings"/>
              <a:buChar char=""/>
              <a:tabLst>
                <a:tab pos="298450" algn="l"/>
              </a:tabLst>
            </a:pPr>
            <a:endParaRPr sz="18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9940" y="641730"/>
            <a:ext cx="5547995" cy="392430"/>
          </a:xfrm>
          <a:prstGeom prst="rect">
            <a:avLst/>
          </a:prstGeom>
        </p:spPr>
        <p:txBody>
          <a:bodyPr vert="horz" wrap="square" lIns="0" tIns="13335" rIns="0" bIns="0" rtlCol="0">
            <a:spAutoFit/>
          </a:bodyPr>
          <a:lstStyle/>
          <a:p>
            <a:pPr marL="12700">
              <a:lnSpc>
                <a:spcPct val="100000"/>
              </a:lnSpc>
              <a:spcBef>
                <a:spcPts val="105"/>
              </a:spcBef>
              <a:tabLst>
                <a:tab pos="4580255" algn="l"/>
              </a:tabLst>
            </a:pPr>
            <a:r>
              <a:rPr lang="en-IN" spc="-10" dirty="0">
                <a:solidFill>
                  <a:srgbClr val="FF0066"/>
                </a:solidFill>
              </a:rPr>
              <a:t>PROPOSED SYSTEM</a:t>
            </a:r>
            <a:endParaRPr spc="-20" dirty="0">
              <a:solidFill>
                <a:srgbClr val="FF0066"/>
              </a:solidFill>
            </a:endParaRPr>
          </a:p>
        </p:txBody>
      </p:sp>
      <p:pic>
        <p:nvPicPr>
          <p:cNvPr id="3" name="object 3"/>
          <p:cNvPicPr/>
          <p:nvPr/>
        </p:nvPicPr>
        <p:blipFill>
          <a:blip r:embed="rId2" cstate="print"/>
          <a:stretch>
            <a:fillRect/>
          </a:stretch>
        </p:blipFill>
        <p:spPr>
          <a:xfrm>
            <a:off x="341676" y="370242"/>
            <a:ext cx="1054347" cy="1040690"/>
          </a:xfrm>
          <a:prstGeom prst="rect">
            <a:avLst/>
          </a:prstGeom>
        </p:spPr>
      </p:pic>
      <p:pic>
        <p:nvPicPr>
          <p:cNvPr id="4" name="object 4"/>
          <p:cNvPicPr/>
          <p:nvPr/>
        </p:nvPicPr>
        <p:blipFill>
          <a:blip r:embed="rId3" cstate="print"/>
          <a:stretch>
            <a:fillRect/>
          </a:stretch>
        </p:blipFill>
        <p:spPr>
          <a:xfrm>
            <a:off x="10534650" y="447675"/>
            <a:ext cx="1152525" cy="1104900"/>
          </a:xfrm>
          <a:prstGeom prst="rect">
            <a:avLst/>
          </a:prstGeom>
        </p:spPr>
      </p:pic>
      <p:sp>
        <p:nvSpPr>
          <p:cNvPr id="5" name="object 5"/>
          <p:cNvSpPr txBox="1"/>
          <p:nvPr/>
        </p:nvSpPr>
        <p:spPr>
          <a:xfrm>
            <a:off x="732472" y="2088451"/>
            <a:ext cx="10895330" cy="1778500"/>
          </a:xfrm>
          <a:prstGeom prst="rect">
            <a:avLst/>
          </a:prstGeom>
        </p:spPr>
        <p:txBody>
          <a:bodyPr vert="horz" wrap="square" lIns="0" tIns="10160" rIns="0" bIns="0" rtlCol="0">
            <a:spAutoFit/>
          </a:bodyPr>
          <a:lstStyle/>
          <a:p>
            <a:pPr marL="12700" indent="449580" algn="just">
              <a:lnSpc>
                <a:spcPct val="148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proposed Stock Portfolio System aims to revolutionize investment management by offering a comprehensive platform that addresses the limitations of existing solutions. By providing real-time data updates, advanced analytics, and an integrated platform, investors will have access to up-to-date information, sophisticated analysis tools, and a streamlined user experience.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5639" y="651827"/>
            <a:ext cx="5755640" cy="391795"/>
          </a:xfrm>
          <a:prstGeom prst="rect">
            <a:avLst/>
          </a:prstGeom>
        </p:spPr>
        <p:txBody>
          <a:bodyPr vert="horz" wrap="square" lIns="0" tIns="12700" rIns="0" bIns="0" rtlCol="0">
            <a:spAutoFit/>
          </a:bodyPr>
          <a:lstStyle/>
          <a:p>
            <a:pPr marL="12700">
              <a:lnSpc>
                <a:spcPct val="100000"/>
              </a:lnSpc>
              <a:spcBef>
                <a:spcPts val="100"/>
              </a:spcBef>
              <a:tabLst>
                <a:tab pos="4507230" algn="l"/>
              </a:tabLst>
            </a:pPr>
            <a:r>
              <a:rPr spc="-40" dirty="0">
                <a:solidFill>
                  <a:srgbClr val="FF0066"/>
                </a:solidFill>
              </a:rPr>
              <a:t>ADVANTAGES</a:t>
            </a:r>
            <a:r>
              <a:rPr spc="-60" dirty="0">
                <a:solidFill>
                  <a:srgbClr val="FF0066"/>
                </a:solidFill>
              </a:rPr>
              <a:t> </a:t>
            </a:r>
            <a:r>
              <a:rPr dirty="0">
                <a:solidFill>
                  <a:srgbClr val="FF0066"/>
                </a:solidFill>
              </a:rPr>
              <a:t>OF</a:t>
            </a:r>
            <a:r>
              <a:rPr spc="-75" dirty="0">
                <a:solidFill>
                  <a:srgbClr val="FF0066"/>
                </a:solidFill>
              </a:rPr>
              <a:t> </a:t>
            </a:r>
            <a:r>
              <a:rPr spc="-10" dirty="0">
                <a:solidFill>
                  <a:srgbClr val="FF0066"/>
                </a:solidFill>
              </a:rPr>
              <a:t>PROPOSED</a:t>
            </a:r>
            <a:r>
              <a:rPr dirty="0">
                <a:solidFill>
                  <a:srgbClr val="FF0066"/>
                </a:solidFill>
              </a:rPr>
              <a:t>	</a:t>
            </a:r>
            <a:r>
              <a:rPr spc="-20" dirty="0">
                <a:solidFill>
                  <a:srgbClr val="FF0066"/>
                </a:solidFill>
              </a:rPr>
              <a:t>SYSTEM</a:t>
            </a:r>
          </a:p>
        </p:txBody>
      </p:sp>
      <p:pic>
        <p:nvPicPr>
          <p:cNvPr id="3" name="object 3"/>
          <p:cNvPicPr/>
          <p:nvPr/>
        </p:nvPicPr>
        <p:blipFill>
          <a:blip r:embed="rId2" cstate="print"/>
          <a:stretch>
            <a:fillRect/>
          </a:stretch>
        </p:blipFill>
        <p:spPr>
          <a:xfrm>
            <a:off x="465501" y="284517"/>
            <a:ext cx="1054347" cy="1040690"/>
          </a:xfrm>
          <a:prstGeom prst="rect">
            <a:avLst/>
          </a:prstGeom>
        </p:spPr>
      </p:pic>
      <p:pic>
        <p:nvPicPr>
          <p:cNvPr id="4" name="object 4"/>
          <p:cNvPicPr/>
          <p:nvPr/>
        </p:nvPicPr>
        <p:blipFill>
          <a:blip r:embed="rId3" cstate="print"/>
          <a:stretch>
            <a:fillRect/>
          </a:stretch>
        </p:blipFill>
        <p:spPr>
          <a:xfrm>
            <a:off x="10506075" y="495300"/>
            <a:ext cx="1152525" cy="1095375"/>
          </a:xfrm>
          <a:prstGeom prst="rect">
            <a:avLst/>
          </a:prstGeom>
        </p:spPr>
      </p:pic>
      <p:sp>
        <p:nvSpPr>
          <p:cNvPr id="5" name="object 5"/>
          <p:cNvSpPr txBox="1"/>
          <p:nvPr/>
        </p:nvSpPr>
        <p:spPr>
          <a:xfrm>
            <a:off x="1228724" y="1828800"/>
            <a:ext cx="9729470" cy="4790222"/>
          </a:xfrm>
          <a:prstGeom prst="rect">
            <a:avLst/>
          </a:prstGeom>
        </p:spPr>
        <p:txBody>
          <a:bodyPr vert="horz" wrap="square" lIns="0" tIns="10795" rIns="0" bIns="0" rtlCol="0">
            <a:spAutoFit/>
          </a:bodyPr>
          <a:lstStyle/>
          <a:p>
            <a:pPr marL="12700" marR="17780" algn="just">
              <a:lnSpc>
                <a:spcPts val="2180"/>
              </a:lnSpc>
              <a:spcBef>
                <a:spcPts val="5"/>
              </a:spcBef>
              <a:tabLst>
                <a:tab pos="355600" algn="l"/>
              </a:tabLst>
            </a:pPr>
            <a:endParaRPr lang="en-IN" spc="-10" dirty="0">
              <a:solidFill>
                <a:srgbClr val="0D0D0D"/>
              </a:solidFill>
              <a:latin typeface="Arial MT"/>
              <a:cs typeface="Arial MT"/>
            </a:endParaRPr>
          </a:p>
          <a:p>
            <a:pPr>
              <a:lnSpc>
                <a:spcPts val="825"/>
              </a:lnSpc>
            </a:pPr>
            <a:r>
              <a:rPr lang="en-IN" dirty="0">
                <a:latin typeface="Times New Roman" panose="02020603050405020304" pitchFamily="18" charset="0"/>
                <a:ea typeface="Times New Roman" panose="02020603050405020304" pitchFamily="18" charset="0"/>
                <a:cs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pPr>
              <a:lnSpc>
                <a:spcPts val="1000"/>
              </a:lnSpc>
            </a:pP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pPr>
              <a:lnSpc>
                <a:spcPts val="1325"/>
              </a:lnSpc>
            </a:pP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pPr marL="374650" indent="-285750">
              <a:lnSpc>
                <a:spcPct val="150000"/>
              </a:lnSpc>
              <a:buFont typeface="Arial" panose="020B0604020202020204" pitchFamily="34" charset="0"/>
              <a:buChar char="•"/>
            </a:pPr>
            <a:r>
              <a:rPr lang="en-IN" sz="3200" b="1" dirty="0">
                <a:latin typeface="Times New Roman" panose="02020603050405020304" pitchFamily="18" charset="0"/>
                <a:ea typeface="Calibri" panose="020F0502020204030204" pitchFamily="34" charset="0"/>
                <a:cs typeface="Times New Roman" panose="02020603050405020304" pitchFamily="18" charset="0"/>
              </a:rPr>
              <a:t>Real time data updates</a:t>
            </a:r>
          </a:p>
          <a:p>
            <a:pPr marL="374650" indent="-285750">
              <a:lnSpc>
                <a:spcPct val="150000"/>
              </a:lnSpc>
              <a:buFont typeface="Arial" panose="020B0604020202020204" pitchFamily="34" charset="0"/>
              <a:buChar char="•"/>
            </a:pP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User friendly int</a:t>
            </a:r>
            <a:r>
              <a:rPr lang="en-IN" sz="3200" b="1" dirty="0">
                <a:latin typeface="Times New Roman" panose="02020603050405020304" pitchFamily="18" charset="0"/>
                <a:ea typeface="Calibri" panose="020F0502020204030204" pitchFamily="34" charset="0"/>
                <a:cs typeface="Times New Roman" panose="02020603050405020304" pitchFamily="18" charset="0"/>
              </a:rPr>
              <a:t>erface</a:t>
            </a:r>
          </a:p>
          <a:p>
            <a:pPr marL="374650" indent="-285750">
              <a:lnSpc>
                <a:spcPct val="150000"/>
              </a:lnSpc>
              <a:buFont typeface="Arial" panose="020B0604020202020204" pitchFamily="34" charset="0"/>
              <a:buChar char="•"/>
            </a:pP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Advanced analytics</a:t>
            </a:r>
          </a:p>
          <a:p>
            <a:pPr marL="374650" indent="-285750">
              <a:lnSpc>
                <a:spcPct val="150000"/>
              </a:lnSpc>
              <a:buFont typeface="Arial" panose="020B0604020202020204" pitchFamily="34" charset="0"/>
              <a:buChar char="•"/>
            </a:pPr>
            <a:r>
              <a:rPr lang="en-IN" sz="3200" b="1" dirty="0">
                <a:latin typeface="Times New Roman" panose="02020603050405020304" pitchFamily="18" charset="0"/>
                <a:ea typeface="Calibri" panose="020F0502020204030204" pitchFamily="34" charset="0"/>
                <a:cs typeface="Times New Roman" panose="02020603050405020304" pitchFamily="18" charset="0"/>
              </a:rPr>
              <a:t>Security measures</a:t>
            </a:r>
          </a:p>
          <a:p>
            <a:pPr marL="374650" indent="-285750">
              <a:lnSpc>
                <a:spcPct val="150000"/>
              </a:lnSpc>
              <a:buFont typeface="Arial" panose="020B0604020202020204" pitchFamily="34" charset="0"/>
              <a:buChar char="•"/>
            </a:pP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Perf</a:t>
            </a:r>
            <a:r>
              <a:rPr lang="en-IN" sz="3200" b="1" dirty="0">
                <a:latin typeface="Times New Roman" panose="02020603050405020304" pitchFamily="18" charset="0"/>
                <a:ea typeface="Calibri" panose="020F0502020204030204" pitchFamily="34" charset="0"/>
                <a:cs typeface="Times New Roman" panose="02020603050405020304" pitchFamily="18" charset="0"/>
              </a:rPr>
              <a:t>ormance efficiency</a:t>
            </a:r>
            <a:endParaRPr lang="en-IN" sz="32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443729" y="647867"/>
            <a:ext cx="3070225" cy="373178"/>
          </a:xfrm>
          <a:prstGeom prst="rect">
            <a:avLst/>
          </a:prstGeom>
        </p:spPr>
        <p:txBody>
          <a:bodyPr vert="horz" wrap="square" lIns="0" tIns="64769" rIns="0" bIns="0" rtlCol="0">
            <a:spAutoFit/>
          </a:bodyPr>
          <a:lstStyle/>
          <a:p>
            <a:pPr marL="12700">
              <a:lnSpc>
                <a:spcPct val="100000"/>
              </a:lnSpc>
              <a:spcBef>
                <a:spcPts val="509"/>
              </a:spcBef>
              <a:tabLst>
                <a:tab pos="1821814" algn="l"/>
              </a:tabLst>
            </a:pPr>
            <a:r>
              <a:rPr lang="en-IN" sz="2000" spc="-10" dirty="0">
                <a:solidFill>
                  <a:srgbClr val="FF0000"/>
                </a:solidFill>
              </a:rPr>
              <a:t>BLOCK DIAGRAM</a:t>
            </a:r>
            <a:endParaRPr sz="2000" dirty="0"/>
          </a:p>
        </p:txBody>
      </p:sp>
      <p:pic>
        <p:nvPicPr>
          <p:cNvPr id="3" name="object 3"/>
          <p:cNvPicPr/>
          <p:nvPr/>
        </p:nvPicPr>
        <p:blipFill>
          <a:blip r:embed="rId2" cstate="print"/>
          <a:stretch>
            <a:fillRect/>
          </a:stretch>
        </p:blipFill>
        <p:spPr>
          <a:xfrm>
            <a:off x="10553700" y="381000"/>
            <a:ext cx="1152525" cy="1104900"/>
          </a:xfrm>
          <a:prstGeom prst="rect">
            <a:avLst/>
          </a:prstGeom>
        </p:spPr>
      </p:pic>
      <p:pic>
        <p:nvPicPr>
          <p:cNvPr id="4" name="object 4"/>
          <p:cNvPicPr/>
          <p:nvPr/>
        </p:nvPicPr>
        <p:blipFill>
          <a:blip r:embed="rId3" cstate="print"/>
          <a:stretch>
            <a:fillRect/>
          </a:stretch>
        </p:blipFill>
        <p:spPr>
          <a:xfrm>
            <a:off x="494076" y="208317"/>
            <a:ext cx="1054347" cy="1040690"/>
          </a:xfrm>
          <a:prstGeom prst="rect">
            <a:avLst/>
          </a:prstGeom>
        </p:spPr>
      </p:pic>
      <p:sp>
        <p:nvSpPr>
          <p:cNvPr id="9" name="Terminator 8">
            <a:extLst>
              <a:ext uri="{FF2B5EF4-FFF2-40B4-BE49-F238E27FC236}">
                <a16:creationId xmlns:a16="http://schemas.microsoft.com/office/drawing/2014/main" id="{D51D6A48-F319-1E1E-8DD8-68896D07B2CD}"/>
              </a:ext>
            </a:extLst>
          </p:cNvPr>
          <p:cNvSpPr/>
          <p:nvPr/>
        </p:nvSpPr>
        <p:spPr>
          <a:xfrm>
            <a:off x="313909" y="1900092"/>
            <a:ext cx="2590800" cy="838200"/>
          </a:xfrm>
          <a:prstGeom prst="flowChartTermina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Start</a:t>
            </a:r>
          </a:p>
        </p:txBody>
      </p:sp>
      <p:sp>
        <p:nvSpPr>
          <p:cNvPr id="10" name="Terminator 9">
            <a:extLst>
              <a:ext uri="{FF2B5EF4-FFF2-40B4-BE49-F238E27FC236}">
                <a16:creationId xmlns:a16="http://schemas.microsoft.com/office/drawing/2014/main" id="{03233ACE-E49F-9F1A-078B-9CE1E2B1B0AA}"/>
              </a:ext>
            </a:extLst>
          </p:cNvPr>
          <p:cNvSpPr/>
          <p:nvPr/>
        </p:nvSpPr>
        <p:spPr>
          <a:xfrm>
            <a:off x="427573" y="4648200"/>
            <a:ext cx="2590800" cy="838200"/>
          </a:xfrm>
          <a:prstGeom prst="flowChartTermina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End</a:t>
            </a:r>
          </a:p>
        </p:txBody>
      </p:sp>
      <p:sp>
        <p:nvSpPr>
          <p:cNvPr id="12" name="Parallelogram 11">
            <a:extLst>
              <a:ext uri="{FF2B5EF4-FFF2-40B4-BE49-F238E27FC236}">
                <a16:creationId xmlns:a16="http://schemas.microsoft.com/office/drawing/2014/main" id="{CAD2493F-D518-2E41-B5F3-DBD4CE1F1219}"/>
              </a:ext>
            </a:extLst>
          </p:cNvPr>
          <p:cNvSpPr/>
          <p:nvPr/>
        </p:nvSpPr>
        <p:spPr>
          <a:xfrm>
            <a:off x="3733800" y="1988820"/>
            <a:ext cx="1864041" cy="800100"/>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 Add</a:t>
            </a:r>
          </a:p>
        </p:txBody>
      </p:sp>
      <p:sp>
        <p:nvSpPr>
          <p:cNvPr id="13" name="Parallelogram 12">
            <a:extLst>
              <a:ext uri="{FF2B5EF4-FFF2-40B4-BE49-F238E27FC236}">
                <a16:creationId xmlns:a16="http://schemas.microsoft.com/office/drawing/2014/main" id="{99AF71AB-F9A7-8382-6B98-00C447A694B8}"/>
              </a:ext>
            </a:extLst>
          </p:cNvPr>
          <p:cNvSpPr/>
          <p:nvPr/>
        </p:nvSpPr>
        <p:spPr>
          <a:xfrm>
            <a:off x="6581933" y="1988820"/>
            <a:ext cx="1864041" cy="800100"/>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a:t>
            </a:r>
          </a:p>
          <a:p>
            <a:pPr algn="ctr"/>
            <a:r>
              <a:rPr lang="en-US" dirty="0"/>
              <a:t>Remove</a:t>
            </a:r>
          </a:p>
        </p:txBody>
      </p:sp>
      <p:sp>
        <p:nvSpPr>
          <p:cNvPr id="20" name="Parallelogram 19">
            <a:extLst>
              <a:ext uri="{FF2B5EF4-FFF2-40B4-BE49-F238E27FC236}">
                <a16:creationId xmlns:a16="http://schemas.microsoft.com/office/drawing/2014/main" id="{F96519E3-C817-635B-D93E-A1ACCA6A44A4}"/>
              </a:ext>
            </a:extLst>
          </p:cNvPr>
          <p:cNvSpPr/>
          <p:nvPr/>
        </p:nvSpPr>
        <p:spPr>
          <a:xfrm>
            <a:off x="9278113" y="1988820"/>
            <a:ext cx="1864041" cy="800100"/>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a:t>
            </a:r>
          </a:p>
          <a:p>
            <a:pPr algn="ctr"/>
            <a:r>
              <a:rPr lang="en-US" dirty="0"/>
              <a:t>Value</a:t>
            </a:r>
          </a:p>
        </p:txBody>
      </p:sp>
      <p:sp>
        <p:nvSpPr>
          <p:cNvPr id="21" name="Diamond 20">
            <a:extLst>
              <a:ext uri="{FF2B5EF4-FFF2-40B4-BE49-F238E27FC236}">
                <a16:creationId xmlns:a16="http://schemas.microsoft.com/office/drawing/2014/main" id="{039E6B50-49AB-C639-07AC-61FA95A3D8C4}"/>
              </a:ext>
            </a:extLst>
          </p:cNvPr>
          <p:cNvSpPr/>
          <p:nvPr/>
        </p:nvSpPr>
        <p:spPr>
          <a:xfrm>
            <a:off x="9465213" y="4514849"/>
            <a:ext cx="2427005" cy="1104901"/>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Initialize stock object</a:t>
            </a:r>
          </a:p>
        </p:txBody>
      </p:sp>
      <p:sp>
        <p:nvSpPr>
          <p:cNvPr id="22" name="Parallelogram 21">
            <a:extLst>
              <a:ext uri="{FF2B5EF4-FFF2-40B4-BE49-F238E27FC236}">
                <a16:creationId xmlns:a16="http://schemas.microsoft.com/office/drawing/2014/main" id="{B8A3D541-2AE1-92E7-824D-687E1B60D98F}"/>
              </a:ext>
            </a:extLst>
          </p:cNvPr>
          <p:cNvSpPr/>
          <p:nvPr/>
        </p:nvSpPr>
        <p:spPr>
          <a:xfrm>
            <a:off x="3855273" y="4686300"/>
            <a:ext cx="1828800" cy="800100"/>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a:t>
            </a:r>
          </a:p>
          <a:p>
            <a:pPr algn="ctr"/>
            <a:r>
              <a:rPr lang="en-US" dirty="0"/>
              <a:t>Value</a:t>
            </a:r>
          </a:p>
        </p:txBody>
      </p:sp>
      <p:sp>
        <p:nvSpPr>
          <p:cNvPr id="23" name="Parallelogram 22">
            <a:extLst>
              <a:ext uri="{FF2B5EF4-FFF2-40B4-BE49-F238E27FC236}">
                <a16:creationId xmlns:a16="http://schemas.microsoft.com/office/drawing/2014/main" id="{4A99CA20-B45A-61C2-C2D6-906D5A9BBB5A}"/>
              </a:ext>
            </a:extLst>
          </p:cNvPr>
          <p:cNvSpPr/>
          <p:nvPr/>
        </p:nvSpPr>
        <p:spPr>
          <a:xfrm>
            <a:off x="6581933" y="4686300"/>
            <a:ext cx="1828800" cy="800100"/>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 </a:t>
            </a:r>
          </a:p>
          <a:p>
            <a:pPr algn="ctr"/>
            <a:r>
              <a:rPr lang="en-US" dirty="0"/>
              <a:t>Display </a:t>
            </a:r>
          </a:p>
        </p:txBody>
      </p:sp>
      <p:sp>
        <p:nvSpPr>
          <p:cNvPr id="24" name="Right Arrow 23">
            <a:extLst>
              <a:ext uri="{FF2B5EF4-FFF2-40B4-BE49-F238E27FC236}">
                <a16:creationId xmlns:a16="http://schemas.microsoft.com/office/drawing/2014/main" id="{400DE428-64F4-F627-C698-470C916DA164}"/>
              </a:ext>
            </a:extLst>
          </p:cNvPr>
          <p:cNvSpPr/>
          <p:nvPr/>
        </p:nvSpPr>
        <p:spPr>
          <a:xfrm>
            <a:off x="2993118" y="2209800"/>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69B92BD7-2005-319E-6832-6F9E2A1206AD}"/>
              </a:ext>
            </a:extLst>
          </p:cNvPr>
          <p:cNvSpPr/>
          <p:nvPr/>
        </p:nvSpPr>
        <p:spPr>
          <a:xfrm>
            <a:off x="8470840" y="2261616"/>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013F3852-B491-92D9-9069-12DF09F57295}"/>
              </a:ext>
            </a:extLst>
          </p:cNvPr>
          <p:cNvSpPr/>
          <p:nvPr/>
        </p:nvSpPr>
        <p:spPr>
          <a:xfrm>
            <a:off x="5749794" y="2272665"/>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a:extLst>
              <a:ext uri="{FF2B5EF4-FFF2-40B4-BE49-F238E27FC236}">
                <a16:creationId xmlns:a16="http://schemas.microsoft.com/office/drawing/2014/main" id="{55B944B0-92F7-1318-F1B0-E5233F56DF61}"/>
              </a:ext>
            </a:extLst>
          </p:cNvPr>
          <p:cNvSpPr/>
          <p:nvPr/>
        </p:nvSpPr>
        <p:spPr>
          <a:xfrm rot="5400000">
            <a:off x="10035876" y="3495675"/>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167F95ED-1D3F-6774-58C0-8E2DF2A5C942}"/>
              </a:ext>
            </a:extLst>
          </p:cNvPr>
          <p:cNvSpPr/>
          <p:nvPr/>
        </p:nvSpPr>
        <p:spPr>
          <a:xfrm rot="10800000">
            <a:off x="8440786" y="4996815"/>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a:extLst>
              <a:ext uri="{FF2B5EF4-FFF2-40B4-BE49-F238E27FC236}">
                <a16:creationId xmlns:a16="http://schemas.microsoft.com/office/drawing/2014/main" id="{0DF6C295-3B73-0658-AA5C-2C133ED2094C}"/>
              </a:ext>
            </a:extLst>
          </p:cNvPr>
          <p:cNvSpPr/>
          <p:nvPr/>
        </p:nvSpPr>
        <p:spPr>
          <a:xfrm rot="10800000">
            <a:off x="3063666" y="4977765"/>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Arrow 32">
            <a:extLst>
              <a:ext uri="{FF2B5EF4-FFF2-40B4-BE49-F238E27FC236}">
                <a16:creationId xmlns:a16="http://schemas.microsoft.com/office/drawing/2014/main" id="{62DCC84E-624C-250D-4D59-9930C43BCE47}"/>
              </a:ext>
            </a:extLst>
          </p:cNvPr>
          <p:cNvSpPr/>
          <p:nvPr/>
        </p:nvSpPr>
        <p:spPr>
          <a:xfrm rot="10800000">
            <a:off x="5759633" y="4996816"/>
            <a:ext cx="807273" cy="17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B9EEE-9B77-5414-A3BD-B35BC6139FAB}"/>
              </a:ext>
            </a:extLst>
          </p:cNvPr>
          <p:cNvSpPr>
            <a:spLocks noGrp="1"/>
          </p:cNvSpPr>
          <p:nvPr>
            <p:ph type="title"/>
          </p:nvPr>
        </p:nvSpPr>
        <p:spPr>
          <a:xfrm>
            <a:off x="3004185" y="627062"/>
            <a:ext cx="6004814" cy="369332"/>
          </a:xfrm>
        </p:spPr>
        <p:txBody>
          <a:bodyPr/>
          <a:lstStyle/>
          <a:p>
            <a:r>
              <a:rPr lang="en-IN" dirty="0"/>
              <a:t>Module Description</a:t>
            </a:r>
          </a:p>
        </p:txBody>
      </p:sp>
      <p:sp>
        <p:nvSpPr>
          <p:cNvPr id="3" name="Text Placeholder 2">
            <a:extLst>
              <a:ext uri="{FF2B5EF4-FFF2-40B4-BE49-F238E27FC236}">
                <a16:creationId xmlns:a16="http://schemas.microsoft.com/office/drawing/2014/main" id="{CCB34729-07F7-F0DD-FF57-33A672A56983}"/>
              </a:ext>
            </a:extLst>
          </p:cNvPr>
          <p:cNvSpPr>
            <a:spLocks noGrp="1"/>
          </p:cNvSpPr>
          <p:nvPr>
            <p:ph type="body" idx="1"/>
          </p:nvPr>
        </p:nvSpPr>
        <p:spPr>
          <a:xfrm>
            <a:off x="953135" y="1485900"/>
            <a:ext cx="10285730" cy="2872581"/>
          </a:xfrm>
        </p:spPr>
        <p:txBody>
          <a:bodyPr/>
          <a:lstStyle/>
          <a:p>
            <a:pPr>
              <a:lnSpc>
                <a:spcPts val="825"/>
              </a:lnSpc>
            </a:pP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50000"/>
              </a:lnSpc>
              <a:buFont typeface="Arial" panose="020B0604020202020204" pitchFamily="34" charset="0"/>
              <a:buChar char="•"/>
            </a:pPr>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User Input</a:t>
            </a:r>
          </a:p>
          <a:p>
            <a:pPr marL="285750" indent="-285750">
              <a:lnSpc>
                <a:spcPct val="150000"/>
              </a:lnSpc>
              <a:buFont typeface="Arial" panose="020B0604020202020204" pitchFamily="34" charset="0"/>
              <a:buChar char="•"/>
            </a:pPr>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⁠Data Retrieval</a:t>
            </a:r>
          </a:p>
          <a:p>
            <a:pPr marL="285750" indent="-285750">
              <a:lnSpc>
                <a:spcPct val="150000"/>
              </a:lnSpc>
              <a:buFont typeface="Arial" panose="020B0604020202020204" pitchFamily="34" charset="0"/>
              <a:buChar char="•"/>
            </a:pPr>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 ⁠Stock Class Initialization</a:t>
            </a:r>
          </a:p>
          <a:p>
            <a:pPr marL="285750" indent="-285750">
              <a:buFont typeface="Arial" panose="020B0604020202020204" pitchFamily="34" charset="0"/>
              <a:buChar char="•"/>
            </a:pPr>
            <a:endParaRPr lang="en-IN" sz="1800" b="1" dirty="0">
              <a:effectLst/>
              <a:latin typeface="Times New Roman" panose="02020603050405020304" pitchFamily="18" charset="0"/>
              <a:ea typeface="Times New Roman" panose="02020603050405020304" pitchFamily="18" charset="0"/>
              <a:cs typeface="Arial" panose="020B0604020202020204" pitchFamily="34" charset="0"/>
            </a:endParaRPr>
          </a:p>
          <a:p>
            <a:endParaRPr lang="en-IN" dirty="0"/>
          </a:p>
        </p:txBody>
      </p:sp>
      <p:pic>
        <p:nvPicPr>
          <p:cNvPr id="4" name="object 4">
            <a:extLst>
              <a:ext uri="{FF2B5EF4-FFF2-40B4-BE49-F238E27FC236}">
                <a16:creationId xmlns:a16="http://schemas.microsoft.com/office/drawing/2014/main" id="{F1421FCB-C3CE-D190-AD59-964B340E6967}"/>
              </a:ext>
            </a:extLst>
          </p:cNvPr>
          <p:cNvPicPr/>
          <p:nvPr/>
        </p:nvPicPr>
        <p:blipFill>
          <a:blip r:embed="rId2" cstate="print"/>
          <a:stretch>
            <a:fillRect/>
          </a:stretch>
        </p:blipFill>
        <p:spPr>
          <a:xfrm>
            <a:off x="494076" y="208317"/>
            <a:ext cx="1054347" cy="1040690"/>
          </a:xfrm>
          <a:prstGeom prst="rect">
            <a:avLst/>
          </a:prstGeom>
        </p:spPr>
      </p:pic>
      <p:pic>
        <p:nvPicPr>
          <p:cNvPr id="6" name="object 3">
            <a:extLst>
              <a:ext uri="{FF2B5EF4-FFF2-40B4-BE49-F238E27FC236}">
                <a16:creationId xmlns:a16="http://schemas.microsoft.com/office/drawing/2014/main" id="{680AD444-C384-8315-6830-A0D50BBA7645}"/>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2196114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CAD18-6AE8-A826-BF28-114CC792D62C}"/>
              </a:ext>
            </a:extLst>
          </p:cNvPr>
          <p:cNvSpPr>
            <a:spLocks noGrp="1"/>
          </p:cNvSpPr>
          <p:nvPr>
            <p:ph type="title"/>
          </p:nvPr>
        </p:nvSpPr>
        <p:spPr>
          <a:xfrm>
            <a:off x="3004185" y="627062"/>
            <a:ext cx="6004814" cy="800219"/>
          </a:xfrm>
        </p:spPr>
        <p:txBody>
          <a:bodyPr/>
          <a:lstStyle/>
          <a:p>
            <a:pPr algn="ctr"/>
            <a:r>
              <a:rPr lang="en-IN" sz="2800" b="1" dirty="0">
                <a:effectLst/>
                <a:latin typeface="Times New Roman" panose="02020603050405020304" pitchFamily="18" charset="0"/>
                <a:ea typeface="Times New Roman" panose="02020603050405020304" pitchFamily="18" charset="0"/>
                <a:cs typeface="Arial" panose="020B0604020202020204" pitchFamily="34" charset="0"/>
              </a:rPr>
              <a:t>User input module</a:t>
            </a:r>
            <a:br>
              <a:rPr lang="en-IN" sz="2400" b="1" dirty="0">
                <a:effectLst/>
                <a:latin typeface="Times New Roman" panose="02020603050405020304" pitchFamily="18" charset="0"/>
                <a:ea typeface="Times New Roman" panose="02020603050405020304" pitchFamily="18" charset="0"/>
                <a:cs typeface="Arial" panose="020B0604020202020204" pitchFamily="34" charset="0"/>
              </a:rPr>
            </a:br>
            <a:endParaRPr lang="en-IN" dirty="0"/>
          </a:p>
        </p:txBody>
      </p:sp>
      <p:sp>
        <p:nvSpPr>
          <p:cNvPr id="3" name="Text Placeholder 2">
            <a:extLst>
              <a:ext uri="{FF2B5EF4-FFF2-40B4-BE49-F238E27FC236}">
                <a16:creationId xmlns:a16="http://schemas.microsoft.com/office/drawing/2014/main" id="{04FE8300-5C31-AC5E-5FF2-586931EA7847}"/>
              </a:ext>
            </a:extLst>
          </p:cNvPr>
          <p:cNvSpPr>
            <a:spLocks noGrp="1"/>
          </p:cNvSpPr>
          <p:nvPr>
            <p:ph type="body" idx="1"/>
          </p:nvPr>
        </p:nvSpPr>
        <p:spPr>
          <a:xfrm>
            <a:off x="961389" y="1598358"/>
            <a:ext cx="10285730" cy="1508105"/>
          </a:xfrm>
        </p:spPr>
        <p:txBody>
          <a:bodyPr/>
          <a:lstStyle/>
          <a:p>
            <a:pPr indent="457200" algn="just">
              <a:lnSpc>
                <a:spcPct val="200000"/>
              </a:lnSpc>
            </a:pPr>
            <a:r>
              <a:rPr lang="en-IN"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The module starts by requesting the user to input the ticker symbol (e.g., AAPL), start date (YYYY-MM-DD), and end date (YYYY-MM-DD) for the historical stock data they want to analyse.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4" name="object 4">
            <a:extLst>
              <a:ext uri="{FF2B5EF4-FFF2-40B4-BE49-F238E27FC236}">
                <a16:creationId xmlns:a16="http://schemas.microsoft.com/office/drawing/2014/main" id="{B3059D6C-39D9-592B-B85D-79B7384C3EFB}"/>
              </a:ext>
            </a:extLst>
          </p:cNvPr>
          <p:cNvPicPr/>
          <p:nvPr/>
        </p:nvPicPr>
        <p:blipFill>
          <a:blip r:embed="rId2" cstate="print"/>
          <a:stretch>
            <a:fillRect/>
          </a:stretch>
        </p:blipFill>
        <p:spPr>
          <a:xfrm>
            <a:off x="494076" y="208317"/>
            <a:ext cx="1054347" cy="1040690"/>
          </a:xfrm>
          <a:prstGeom prst="rect">
            <a:avLst/>
          </a:prstGeom>
        </p:spPr>
      </p:pic>
      <p:pic>
        <p:nvPicPr>
          <p:cNvPr id="5" name="object 3">
            <a:extLst>
              <a:ext uri="{FF2B5EF4-FFF2-40B4-BE49-F238E27FC236}">
                <a16:creationId xmlns:a16="http://schemas.microsoft.com/office/drawing/2014/main" id="{0E1F1F4D-7028-3306-3CF1-C5AAD97164F9}"/>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2777588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3C93-3304-16B1-B3FA-302099B62B8F}"/>
              </a:ext>
            </a:extLst>
          </p:cNvPr>
          <p:cNvSpPr>
            <a:spLocks noGrp="1"/>
          </p:cNvSpPr>
          <p:nvPr>
            <p:ph type="title"/>
          </p:nvPr>
        </p:nvSpPr>
        <p:spPr>
          <a:xfrm>
            <a:off x="3276600" y="609600"/>
            <a:ext cx="6113399" cy="430887"/>
          </a:xfrm>
        </p:spPr>
        <p:txBody>
          <a:bodyPr/>
          <a:lstStyle/>
          <a:p>
            <a:pPr algn="ctr"/>
            <a:r>
              <a:rPr lang="en-IN" sz="2800" dirty="0"/>
              <a:t>Data retrieval</a:t>
            </a:r>
          </a:p>
        </p:txBody>
      </p:sp>
      <p:sp>
        <p:nvSpPr>
          <p:cNvPr id="3" name="Text Placeholder 2">
            <a:extLst>
              <a:ext uri="{FF2B5EF4-FFF2-40B4-BE49-F238E27FC236}">
                <a16:creationId xmlns:a16="http://schemas.microsoft.com/office/drawing/2014/main" id="{0F38FC89-7544-9D3F-2980-1BC5CD466C32}"/>
              </a:ext>
            </a:extLst>
          </p:cNvPr>
          <p:cNvSpPr>
            <a:spLocks noGrp="1"/>
          </p:cNvSpPr>
          <p:nvPr>
            <p:ph type="body" idx="1"/>
          </p:nvPr>
        </p:nvSpPr>
        <p:spPr>
          <a:xfrm>
            <a:off x="961389" y="1598358"/>
            <a:ext cx="10285730" cy="1749197"/>
          </a:xfrm>
        </p:spPr>
        <p:txBody>
          <a:bodyPr/>
          <a:lstStyle/>
          <a:p>
            <a:pPr>
              <a:lnSpc>
                <a:spcPct val="150000"/>
              </a:lnSpc>
            </a:pPr>
            <a:r>
              <a:rPr lang="en-IN"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Data retrieval in the Stock Portfolio System module involves several key steps. First, the module identifies the data source, utilizing the Yahoo Finance API accessed through the ⁠⁠ Python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dirty="0"/>
          </a:p>
        </p:txBody>
      </p:sp>
      <p:pic>
        <p:nvPicPr>
          <p:cNvPr id="4" name="object 4">
            <a:extLst>
              <a:ext uri="{FF2B5EF4-FFF2-40B4-BE49-F238E27FC236}">
                <a16:creationId xmlns:a16="http://schemas.microsoft.com/office/drawing/2014/main" id="{1D540ED0-0607-BD14-56C6-96F7308EB991}"/>
              </a:ext>
            </a:extLst>
          </p:cNvPr>
          <p:cNvPicPr/>
          <p:nvPr/>
        </p:nvPicPr>
        <p:blipFill>
          <a:blip r:embed="rId2" cstate="print"/>
          <a:stretch>
            <a:fillRect/>
          </a:stretch>
        </p:blipFill>
        <p:spPr>
          <a:xfrm>
            <a:off x="494076" y="208317"/>
            <a:ext cx="1054347" cy="1040690"/>
          </a:xfrm>
          <a:prstGeom prst="rect">
            <a:avLst/>
          </a:prstGeom>
        </p:spPr>
      </p:pic>
      <p:pic>
        <p:nvPicPr>
          <p:cNvPr id="5" name="object 3">
            <a:extLst>
              <a:ext uri="{FF2B5EF4-FFF2-40B4-BE49-F238E27FC236}">
                <a16:creationId xmlns:a16="http://schemas.microsoft.com/office/drawing/2014/main" id="{0B582754-D295-5166-3248-F2F4D6287451}"/>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2939401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C5F7F-FED6-B916-27E7-7F741CDFEAC3}"/>
              </a:ext>
            </a:extLst>
          </p:cNvPr>
          <p:cNvSpPr>
            <a:spLocks noGrp="1"/>
          </p:cNvSpPr>
          <p:nvPr>
            <p:ph type="title"/>
          </p:nvPr>
        </p:nvSpPr>
        <p:spPr>
          <a:xfrm>
            <a:off x="3004185" y="627062"/>
            <a:ext cx="6004814" cy="800219"/>
          </a:xfrm>
        </p:spPr>
        <p:txBody>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Stock class initialization module</a:t>
            </a:r>
            <a:br>
              <a:rPr lang="en-IN" sz="1800" dirty="0">
                <a:effectLst/>
                <a:latin typeface="Calibri" panose="020F0502020204030204" pitchFamily="34" charset="0"/>
                <a:ea typeface="Calibri" panose="020F0502020204030204" pitchFamily="34" charset="0"/>
                <a:cs typeface="Arial" panose="020B0604020202020204" pitchFamily="34" charset="0"/>
              </a:rPr>
            </a:br>
            <a:endParaRPr lang="en-IN" dirty="0"/>
          </a:p>
        </p:txBody>
      </p:sp>
      <p:sp>
        <p:nvSpPr>
          <p:cNvPr id="3" name="Text Placeholder 2">
            <a:extLst>
              <a:ext uri="{FF2B5EF4-FFF2-40B4-BE49-F238E27FC236}">
                <a16:creationId xmlns:a16="http://schemas.microsoft.com/office/drawing/2014/main" id="{1559326E-3BEC-DD0F-D8FB-6106B4B4BB98}"/>
              </a:ext>
            </a:extLst>
          </p:cNvPr>
          <p:cNvSpPr>
            <a:spLocks noGrp="1"/>
          </p:cNvSpPr>
          <p:nvPr>
            <p:ph type="body" idx="1"/>
          </p:nvPr>
        </p:nvSpPr>
        <p:spPr>
          <a:xfrm>
            <a:off x="961389" y="1598358"/>
            <a:ext cx="10285730" cy="1791324"/>
          </a:xfrm>
        </p:spPr>
        <p:txBody>
          <a:bodyPr/>
          <a:lstStyle/>
          <a:p>
            <a:pPr algn="just">
              <a:lnSpc>
                <a:spcPct val="150000"/>
              </a:lnSpc>
            </a:pPr>
            <a:r>
              <a:rPr lang="en-IN" sz="2000" dirty="0">
                <a:latin typeface="Times New Roman" panose="02020603050405020304" pitchFamily="18" charset="0"/>
                <a:cs typeface="Times New Roman" panose="02020603050405020304" pitchFamily="18" charset="0"/>
              </a:rPr>
              <a:t>The ⁠ Stock ⁠ class initialization in the Stock Portfolio System module is crucial for setting up the retrieval and management of stock data. It begins by defining the parameters required for initialization, including the stock symbol (⁠ symbol ⁠), start date (⁠ </a:t>
            </a:r>
            <a:r>
              <a:rPr lang="en-IN" sz="2000" dirty="0" err="1">
                <a:latin typeface="Times New Roman" panose="02020603050405020304" pitchFamily="18" charset="0"/>
                <a:cs typeface="Times New Roman" panose="02020603050405020304" pitchFamily="18" charset="0"/>
              </a:rPr>
              <a:t>start_date</a:t>
            </a:r>
            <a:r>
              <a:rPr lang="en-IN" sz="2000" dirty="0">
                <a:latin typeface="Times New Roman" panose="02020603050405020304" pitchFamily="18" charset="0"/>
                <a:cs typeface="Times New Roman" panose="02020603050405020304" pitchFamily="18" charset="0"/>
              </a:rPr>
              <a:t> ⁠), and end date (⁠ </a:t>
            </a:r>
            <a:r>
              <a:rPr lang="en-IN" sz="2000" dirty="0" err="1">
                <a:latin typeface="Times New Roman" panose="02020603050405020304" pitchFamily="18" charset="0"/>
                <a:cs typeface="Times New Roman" panose="02020603050405020304" pitchFamily="18" charset="0"/>
              </a:rPr>
              <a:t>end_date</a:t>
            </a:r>
            <a:r>
              <a:rPr lang="en-IN" sz="2000" dirty="0">
                <a:latin typeface="Times New Roman" panose="02020603050405020304" pitchFamily="18" charset="0"/>
                <a:cs typeface="Times New Roman" panose="02020603050405020304" pitchFamily="18" charset="0"/>
              </a:rPr>
              <a:t> ⁠) for the data retrieval period</a:t>
            </a:r>
          </a:p>
        </p:txBody>
      </p:sp>
      <p:pic>
        <p:nvPicPr>
          <p:cNvPr id="4" name="object 4">
            <a:extLst>
              <a:ext uri="{FF2B5EF4-FFF2-40B4-BE49-F238E27FC236}">
                <a16:creationId xmlns:a16="http://schemas.microsoft.com/office/drawing/2014/main" id="{F0D4601A-4617-FE7A-6798-9BDA101E34EE}"/>
              </a:ext>
            </a:extLst>
          </p:cNvPr>
          <p:cNvPicPr/>
          <p:nvPr/>
        </p:nvPicPr>
        <p:blipFill>
          <a:blip r:embed="rId2" cstate="print"/>
          <a:stretch>
            <a:fillRect/>
          </a:stretch>
        </p:blipFill>
        <p:spPr>
          <a:xfrm>
            <a:off x="494076" y="208317"/>
            <a:ext cx="1054347" cy="1040690"/>
          </a:xfrm>
          <a:prstGeom prst="rect">
            <a:avLst/>
          </a:prstGeom>
        </p:spPr>
      </p:pic>
      <p:pic>
        <p:nvPicPr>
          <p:cNvPr id="5" name="object 3">
            <a:extLst>
              <a:ext uri="{FF2B5EF4-FFF2-40B4-BE49-F238E27FC236}">
                <a16:creationId xmlns:a16="http://schemas.microsoft.com/office/drawing/2014/main" id="{B3ABB56F-8884-4F2B-23E0-EDE6D54E14AB}"/>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5967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0145-C62E-51EE-8EB7-0CDAD76BF56B}"/>
              </a:ext>
            </a:extLst>
          </p:cNvPr>
          <p:cNvSpPr>
            <a:spLocks noGrp="1"/>
          </p:cNvSpPr>
          <p:nvPr>
            <p:ph type="title"/>
          </p:nvPr>
        </p:nvSpPr>
        <p:spPr>
          <a:xfrm>
            <a:off x="3004184" y="627062"/>
            <a:ext cx="7130415" cy="1384995"/>
          </a:xfrm>
        </p:spPr>
        <p:txBody>
          <a:bodyPr/>
          <a:lstStyle/>
          <a:p>
            <a:r>
              <a:rPr lang="en-US" b="1" spc="-10" dirty="0">
                <a:latin typeface="Times New Roman" panose="02020603050405020304" pitchFamily="18" charset="0"/>
                <a:cs typeface="Times New Roman" panose="02020603050405020304" pitchFamily="18" charset="0"/>
              </a:rPr>
              <a:t>CONCLUSION AND FUTURE ENHANCEMENT</a:t>
            </a:r>
            <a:br>
              <a:rPr lang="en-US" sz="1800" b="1" spc="-10" dirty="0">
                <a:latin typeface="Arial"/>
                <a:cs typeface="Arial"/>
              </a:rPr>
            </a:br>
            <a:br>
              <a:rPr lang="en-IN" sz="1800" dirty="0">
                <a:effectLst/>
                <a:latin typeface="Calibri" panose="020F0502020204030204" pitchFamily="34" charset="0"/>
                <a:ea typeface="Calibri" panose="020F0502020204030204" pitchFamily="34" charset="0"/>
                <a:cs typeface="Arial" panose="020B0604020202020204" pitchFamily="34" charset="0"/>
              </a:rPr>
            </a:br>
            <a:endParaRPr lang="en-IN" dirty="0"/>
          </a:p>
        </p:txBody>
      </p:sp>
      <p:sp>
        <p:nvSpPr>
          <p:cNvPr id="3" name="Text Placeholder 2">
            <a:extLst>
              <a:ext uri="{FF2B5EF4-FFF2-40B4-BE49-F238E27FC236}">
                <a16:creationId xmlns:a16="http://schemas.microsoft.com/office/drawing/2014/main" id="{271EB95C-F6C6-10BD-406C-487E021FE875}"/>
              </a:ext>
            </a:extLst>
          </p:cNvPr>
          <p:cNvSpPr>
            <a:spLocks noGrp="1"/>
          </p:cNvSpPr>
          <p:nvPr>
            <p:ph type="body" idx="1"/>
          </p:nvPr>
        </p:nvSpPr>
        <p:spPr>
          <a:xfrm>
            <a:off x="961389" y="1598358"/>
            <a:ext cx="10285730" cy="3103414"/>
          </a:xfrm>
        </p:spPr>
        <p:txBody>
          <a:bodyPr/>
          <a:lstStyle/>
          <a:p>
            <a:pPr indent="457200" algn="just">
              <a:lnSpc>
                <a:spcPct val="148000"/>
              </a:lnSpc>
            </a:pPr>
            <a:r>
              <a:rPr lang="en-IN" sz="2000" dirty="0">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n conclusion, the ⁠ Stock ⁠ class initialization is a critical component of the Stock Portfolio System module, enabling the retrieval and management of historical stock price data. By defining parameters such as the stock symbol and date range, initializing the class sets the stage for accessing relevant stock market information. Leveraging the ⁠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yfinance</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 module, the class efficiently downloads and stores this data for later analysis.</a:t>
            </a:r>
          </a:p>
          <a:p>
            <a:pPr>
              <a:lnSpc>
                <a:spcPct val="150000"/>
              </a:lnSpc>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dirty="0"/>
          </a:p>
        </p:txBody>
      </p:sp>
      <p:pic>
        <p:nvPicPr>
          <p:cNvPr id="4" name="object 4">
            <a:extLst>
              <a:ext uri="{FF2B5EF4-FFF2-40B4-BE49-F238E27FC236}">
                <a16:creationId xmlns:a16="http://schemas.microsoft.com/office/drawing/2014/main" id="{DF61DF2A-174F-439A-AAA0-8D906D6F91B7}"/>
              </a:ext>
            </a:extLst>
          </p:cNvPr>
          <p:cNvPicPr/>
          <p:nvPr/>
        </p:nvPicPr>
        <p:blipFill>
          <a:blip r:embed="rId2" cstate="print"/>
          <a:stretch>
            <a:fillRect/>
          </a:stretch>
        </p:blipFill>
        <p:spPr>
          <a:xfrm>
            <a:off x="494076" y="208317"/>
            <a:ext cx="1054347" cy="1040690"/>
          </a:xfrm>
          <a:prstGeom prst="rect">
            <a:avLst/>
          </a:prstGeom>
        </p:spPr>
      </p:pic>
      <p:pic>
        <p:nvPicPr>
          <p:cNvPr id="5" name="object 3">
            <a:extLst>
              <a:ext uri="{FF2B5EF4-FFF2-40B4-BE49-F238E27FC236}">
                <a16:creationId xmlns:a16="http://schemas.microsoft.com/office/drawing/2014/main" id="{92D1F841-567E-2350-0AF8-96E26184ACB2}"/>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3667915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4065-6DAC-D46B-F289-E9070F384975}"/>
              </a:ext>
            </a:extLst>
          </p:cNvPr>
          <p:cNvSpPr>
            <a:spLocks noGrp="1"/>
          </p:cNvSpPr>
          <p:nvPr>
            <p:ph type="title"/>
          </p:nvPr>
        </p:nvSpPr>
        <p:spPr>
          <a:xfrm>
            <a:off x="4191000" y="609600"/>
            <a:ext cx="6004814" cy="369332"/>
          </a:xfrm>
        </p:spPr>
        <p:txBody>
          <a:bodyPr/>
          <a:lstStyle/>
          <a:p>
            <a:r>
              <a:rPr lang="en-IN" dirty="0"/>
              <a:t>SCREENSHOT</a:t>
            </a:r>
          </a:p>
        </p:txBody>
      </p:sp>
      <p:pic>
        <p:nvPicPr>
          <p:cNvPr id="6" name="object 4">
            <a:extLst>
              <a:ext uri="{FF2B5EF4-FFF2-40B4-BE49-F238E27FC236}">
                <a16:creationId xmlns:a16="http://schemas.microsoft.com/office/drawing/2014/main" id="{D7EEE73A-C543-CE69-3315-1ADE217802FB}"/>
              </a:ext>
            </a:extLst>
          </p:cNvPr>
          <p:cNvPicPr/>
          <p:nvPr/>
        </p:nvPicPr>
        <p:blipFill>
          <a:blip r:embed="rId2" cstate="print"/>
          <a:stretch>
            <a:fillRect/>
          </a:stretch>
        </p:blipFill>
        <p:spPr>
          <a:xfrm>
            <a:off x="304800" y="96476"/>
            <a:ext cx="1054347" cy="1040690"/>
          </a:xfrm>
          <a:prstGeom prst="rect">
            <a:avLst/>
          </a:prstGeom>
        </p:spPr>
      </p:pic>
      <p:pic>
        <p:nvPicPr>
          <p:cNvPr id="7" name="object 3">
            <a:extLst>
              <a:ext uri="{FF2B5EF4-FFF2-40B4-BE49-F238E27FC236}">
                <a16:creationId xmlns:a16="http://schemas.microsoft.com/office/drawing/2014/main" id="{41EE387D-C49E-E08E-768D-640AB02700F5}"/>
              </a:ext>
            </a:extLst>
          </p:cNvPr>
          <p:cNvPicPr/>
          <p:nvPr/>
        </p:nvPicPr>
        <p:blipFill>
          <a:blip r:embed="rId3" cstate="print"/>
          <a:stretch>
            <a:fillRect/>
          </a:stretch>
        </p:blipFill>
        <p:spPr>
          <a:xfrm>
            <a:off x="10734675" y="241816"/>
            <a:ext cx="1152525" cy="1104900"/>
          </a:xfrm>
          <a:prstGeom prst="rect">
            <a:avLst/>
          </a:prstGeom>
        </p:spPr>
      </p:pic>
      <p:pic>
        <p:nvPicPr>
          <p:cNvPr id="3" name="Picture 2">
            <a:extLst>
              <a:ext uri="{FF2B5EF4-FFF2-40B4-BE49-F238E27FC236}">
                <a16:creationId xmlns:a16="http://schemas.microsoft.com/office/drawing/2014/main" id="{81FED1D6-AA7C-DBF1-06E5-FC41797B3F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0406" y="1346716"/>
            <a:ext cx="6268641" cy="5082659"/>
          </a:xfrm>
          <a:prstGeom prst="rect">
            <a:avLst/>
          </a:prstGeom>
        </p:spPr>
      </p:pic>
    </p:spTree>
    <p:extLst>
      <p:ext uri="{BB962C8B-B14F-4D97-AF65-F5344CB8AC3E}">
        <p14:creationId xmlns:p14="http://schemas.microsoft.com/office/powerpoint/2010/main" val="2360726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0DAAB-45B0-21BC-E355-5B7DB74ADE9C}"/>
              </a:ext>
            </a:extLst>
          </p:cNvPr>
          <p:cNvSpPr>
            <a:spLocks noGrp="1"/>
          </p:cNvSpPr>
          <p:nvPr>
            <p:ph type="title"/>
          </p:nvPr>
        </p:nvSpPr>
        <p:spPr>
          <a:xfrm>
            <a:off x="3004185" y="627062"/>
            <a:ext cx="6004814" cy="430887"/>
          </a:xfrm>
        </p:spPr>
        <p:txBody>
          <a:bodyPr/>
          <a:lstStyle/>
          <a:p>
            <a:pPr algn="ctr"/>
            <a:r>
              <a:rPr lang="en-US" sz="2800" dirty="0">
                <a:latin typeface="Times New Roman" panose="02020603050405020304" pitchFamily="18" charset="0"/>
                <a:cs typeface="Times New Roman" panose="02020603050405020304" pitchFamily="18" charset="0"/>
              </a:rPr>
              <a:t>OUTPUT SCREENSHOT</a:t>
            </a:r>
          </a:p>
        </p:txBody>
      </p:sp>
      <p:pic>
        <p:nvPicPr>
          <p:cNvPr id="5" name="object 4">
            <a:extLst>
              <a:ext uri="{FF2B5EF4-FFF2-40B4-BE49-F238E27FC236}">
                <a16:creationId xmlns:a16="http://schemas.microsoft.com/office/drawing/2014/main" id="{C38D7047-4D2F-398D-DBE4-680BEE33132A}"/>
              </a:ext>
            </a:extLst>
          </p:cNvPr>
          <p:cNvPicPr/>
          <p:nvPr/>
        </p:nvPicPr>
        <p:blipFill>
          <a:blip r:embed="rId2" cstate="print"/>
          <a:stretch>
            <a:fillRect/>
          </a:stretch>
        </p:blipFill>
        <p:spPr>
          <a:xfrm>
            <a:off x="494076" y="208317"/>
            <a:ext cx="1054347" cy="1040690"/>
          </a:xfrm>
          <a:prstGeom prst="rect">
            <a:avLst/>
          </a:prstGeom>
        </p:spPr>
      </p:pic>
      <p:pic>
        <p:nvPicPr>
          <p:cNvPr id="6" name="object 3">
            <a:extLst>
              <a:ext uri="{FF2B5EF4-FFF2-40B4-BE49-F238E27FC236}">
                <a16:creationId xmlns:a16="http://schemas.microsoft.com/office/drawing/2014/main" id="{5F23DECF-29A8-8D7E-A4DE-4A83016F8411}"/>
              </a:ext>
            </a:extLst>
          </p:cNvPr>
          <p:cNvPicPr/>
          <p:nvPr/>
        </p:nvPicPr>
        <p:blipFill>
          <a:blip r:embed="rId3" cstate="print"/>
          <a:stretch>
            <a:fillRect/>
          </a:stretch>
        </p:blipFill>
        <p:spPr>
          <a:xfrm>
            <a:off x="10553700" y="381000"/>
            <a:ext cx="1152525" cy="1104900"/>
          </a:xfrm>
          <a:prstGeom prst="rect">
            <a:avLst/>
          </a:prstGeom>
        </p:spPr>
      </p:pic>
      <p:pic>
        <p:nvPicPr>
          <p:cNvPr id="3" name="Picture 2">
            <a:extLst>
              <a:ext uri="{FF2B5EF4-FFF2-40B4-BE49-F238E27FC236}">
                <a16:creationId xmlns:a16="http://schemas.microsoft.com/office/drawing/2014/main" id="{9B0CBCE9-37FD-F42C-0CDE-F38FAAD7E9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00" y="1809749"/>
            <a:ext cx="6477000" cy="3238500"/>
          </a:xfrm>
          <a:prstGeom prst="rect">
            <a:avLst/>
          </a:prstGeom>
        </p:spPr>
      </p:pic>
    </p:spTree>
    <p:extLst>
      <p:ext uri="{BB962C8B-B14F-4D97-AF65-F5344CB8AC3E}">
        <p14:creationId xmlns:p14="http://schemas.microsoft.com/office/powerpoint/2010/main" val="1983161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F849-C0ED-664A-52BE-3AA643F7102B}"/>
              </a:ext>
            </a:extLst>
          </p:cNvPr>
          <p:cNvSpPr>
            <a:spLocks noGrp="1"/>
          </p:cNvSpPr>
          <p:nvPr>
            <p:ph type="title"/>
          </p:nvPr>
        </p:nvSpPr>
        <p:spPr>
          <a:xfrm>
            <a:off x="4191000" y="3200400"/>
            <a:ext cx="3886200" cy="990600"/>
          </a:xfrm>
        </p:spPr>
        <p:txBody>
          <a:bodyPr/>
          <a:lstStyle/>
          <a:p>
            <a:r>
              <a:rPr lang="en-IN" sz="3600" dirty="0"/>
              <a:t>THANK YOU</a:t>
            </a:r>
          </a:p>
        </p:txBody>
      </p:sp>
      <p:pic>
        <p:nvPicPr>
          <p:cNvPr id="3" name="object 4">
            <a:extLst>
              <a:ext uri="{FF2B5EF4-FFF2-40B4-BE49-F238E27FC236}">
                <a16:creationId xmlns:a16="http://schemas.microsoft.com/office/drawing/2014/main" id="{79D2128D-F22C-E093-703F-F7CDA4C3B13A}"/>
              </a:ext>
            </a:extLst>
          </p:cNvPr>
          <p:cNvPicPr/>
          <p:nvPr/>
        </p:nvPicPr>
        <p:blipFill>
          <a:blip r:embed="rId2" cstate="print"/>
          <a:stretch>
            <a:fillRect/>
          </a:stretch>
        </p:blipFill>
        <p:spPr>
          <a:xfrm>
            <a:off x="494076" y="208317"/>
            <a:ext cx="1054347" cy="1040690"/>
          </a:xfrm>
          <a:prstGeom prst="rect">
            <a:avLst/>
          </a:prstGeom>
        </p:spPr>
      </p:pic>
      <p:pic>
        <p:nvPicPr>
          <p:cNvPr id="4" name="object 3">
            <a:extLst>
              <a:ext uri="{FF2B5EF4-FFF2-40B4-BE49-F238E27FC236}">
                <a16:creationId xmlns:a16="http://schemas.microsoft.com/office/drawing/2014/main" id="{35452A54-A400-BF1D-26EA-07202795AE63}"/>
              </a:ext>
            </a:extLst>
          </p:cNvPr>
          <p:cNvPicPr/>
          <p:nvPr/>
        </p:nvPicPr>
        <p:blipFill>
          <a:blip r:embed="rId3" cstate="print"/>
          <a:stretch>
            <a:fillRect/>
          </a:stretch>
        </p:blipFill>
        <p:spPr>
          <a:xfrm>
            <a:off x="10553700" y="381000"/>
            <a:ext cx="1152525" cy="1104900"/>
          </a:xfrm>
          <a:prstGeom prst="rect">
            <a:avLst/>
          </a:prstGeom>
        </p:spPr>
      </p:pic>
    </p:spTree>
    <p:extLst>
      <p:ext uri="{BB962C8B-B14F-4D97-AF65-F5344CB8AC3E}">
        <p14:creationId xmlns:p14="http://schemas.microsoft.com/office/powerpoint/2010/main" val="1795467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1675</TotalTime>
  <Words>833</Words>
  <Application>Microsoft Office PowerPoint</Application>
  <PresentationFormat>Widescreen</PresentationFormat>
  <Paragraphs>93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K.RAMAKRISHNAN COLLEGE OF TECHNOLOGY (AUTONOMOUS), TRICHY</vt:lpstr>
      <vt:lpstr>PRESENTATION OVERVIEW</vt:lpstr>
      <vt:lpstr>PROJECT INTRODUCTION</vt:lpstr>
      <vt:lpstr>PROJECT OBJECTIVE</vt:lpstr>
      <vt:lpstr>PROBLEM STATEMENT</vt:lpstr>
      <vt:lpstr>LIBRARIES USED</vt:lpstr>
      <vt:lpstr>EXISTING SYSTEM</vt:lpstr>
      <vt:lpstr>DISADVANTAGES OF EXISTING SYSTEM</vt:lpstr>
      <vt:lpstr>PROPOSED SYSTEM</vt:lpstr>
      <vt:lpstr>ADVANTAGES OF PROPOSED SYSTEM</vt:lpstr>
      <vt:lpstr>BLOCK DIAGRAM</vt:lpstr>
      <vt:lpstr>Module Description</vt:lpstr>
      <vt:lpstr>User input module </vt:lpstr>
      <vt:lpstr>Data retrieval</vt:lpstr>
      <vt:lpstr>Stock class initialization module </vt:lpstr>
      <vt:lpstr>CONCLUSION AND FUTURE ENHANCEMENT  </vt:lpstr>
      <vt:lpstr>SCREENSHOT</vt:lpstr>
      <vt:lpstr>OUTPUT SCREENSHOT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K.RAMAKRISHNAN COLLEGE OF TECHNOLOGY (AUTONOMOUS), TRICHY</dc:title>
  <dc:creator>Manojkumar Chandrasekar</dc:creator>
  <cp:lastModifiedBy>919384413909</cp:lastModifiedBy>
  <cp:revision>11</cp:revision>
  <dcterms:created xsi:type="dcterms:W3CDTF">2024-05-30T06:38:00Z</dcterms:created>
  <dcterms:modified xsi:type="dcterms:W3CDTF">2024-06-18T17:04:45Z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2024-03-22T00:00:00Z</vt:filetime>
  </property>
  <property fmtid="{D5CDD505-2E9C-101B-9397-08002B2CF9AE}" pid="3" name="LastSaved">
    <vt:filetime>2024-05-30T00:00:00Z</vt:filetime>
  </property>
</Properties>
</file>